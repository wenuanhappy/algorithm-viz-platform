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61" r:id="rId8"/>
    <p:sldId id="262" r:id="rId9"/>
    <p:sldId id="264" r:id="rId10"/>
    <p:sldId id="265" r:id="rId11"/>
    <p:sldId id="285" r:id="rId12"/>
    <p:sldId id="266" r:id="rId13"/>
    <p:sldId id="267" r:id="rId14"/>
    <p:sldId id="268" r:id="rId15"/>
    <p:sldId id="286" r:id="rId16"/>
    <p:sldId id="269" r:id="rId17"/>
    <p:sldId id="270" r:id="rId18"/>
    <p:sldId id="271" r:id="rId19"/>
    <p:sldId id="287" r:id="rId20"/>
    <p:sldId id="288" r:id="rId21"/>
    <p:sldId id="289" r:id="rId22"/>
    <p:sldId id="272" r:id="rId23"/>
    <p:sldId id="290" r:id="rId24"/>
    <p:sldId id="273" r:id="rId25"/>
    <p:sldId id="291" r:id="rId26"/>
    <p:sldId id="274" r:id="rId27"/>
    <p:sldId id="292" r:id="rId28"/>
    <p:sldId id="275" r:id="rId29"/>
    <p:sldId id="294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992124" y="1511046"/>
            <a:ext cx="7159752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算法与复杂度可视化学习平台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2743200" y="3291840"/>
            <a:ext cx="3657600" cy="27432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7" name="Text 5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dirty="0">
                <a:solidFill>
                  <a:schemeClr val="bg1"/>
                </a:solidFill>
              </a:rPr>
              <a:t>第七小组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27432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目录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44752"/>
            <a:ext cx="365760" cy="36576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7" name="Text 5"/>
          <p:cNvSpPr/>
          <p:nvPr/>
        </p:nvSpPr>
        <p:spPr>
          <a:xfrm>
            <a:off x="548640" y="1444752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399032"/>
            <a:ext cx="2743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需求分析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023360" y="1399032"/>
            <a:ext cx="43891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功能需求 · 非功能需求 · 用户角色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43000" y="1856232"/>
            <a:ext cx="7132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039112"/>
            <a:ext cx="365760" cy="36576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2" name="Text 10"/>
          <p:cNvSpPr/>
          <p:nvPr/>
        </p:nvSpPr>
        <p:spPr>
          <a:xfrm>
            <a:off x="548640" y="2039112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1993392"/>
            <a:ext cx="2743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系统设计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023360" y="1993392"/>
            <a:ext cx="43891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架构总览 · 前端组件化 · 后端分层 · 数据流 · 设计要点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43000" y="2450592"/>
            <a:ext cx="7132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633472"/>
            <a:ext cx="365760" cy="36576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7" name="Text 15"/>
          <p:cNvSpPr/>
          <p:nvPr/>
        </p:nvSpPr>
        <p:spPr>
          <a:xfrm>
            <a:off x="548640" y="2633472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2587752"/>
            <a:ext cx="2743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核心实现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023360" y="2587752"/>
            <a:ext cx="43891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步骤生成 · 教学引导 · 对比模式 · 评估判分 · AI分析 · 3D渲染 · 认证 · 数据库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43000" y="3044952"/>
            <a:ext cx="7132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227832"/>
            <a:ext cx="365760" cy="36576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2" name="Text 20"/>
          <p:cNvSpPr/>
          <p:nvPr/>
        </p:nvSpPr>
        <p:spPr>
          <a:xfrm>
            <a:off x="548640" y="3227832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3182112"/>
            <a:ext cx="2743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部署运维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023360" y="3182112"/>
            <a:ext cx="43891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Docker容器化 · AWS ECS云部署 · 环境配置分离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143000" y="3639312"/>
            <a:ext cx="7132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822192"/>
            <a:ext cx="365760" cy="36576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7" name="Text 25"/>
          <p:cNvSpPr/>
          <p:nvPr/>
        </p:nvSpPr>
        <p:spPr>
          <a:xfrm>
            <a:off x="548640" y="3822192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3776472"/>
            <a:ext cx="2743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问题与改进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023360" y="3776472"/>
            <a:ext cx="43891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注册安全 · 端口硬编码 · 工程启示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需求分析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4114800"/>
            <a:ext cx="76809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114800"/>
            <a:ext cx="45720" cy="5943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" name="Text 5"/>
          <p:cNvSpPr/>
          <p:nvPr/>
        </p:nvSpPr>
        <p:spPr>
          <a:xfrm>
            <a:off x="1051560" y="4114800"/>
            <a:ext cx="7178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本节要点：功能需求全览 → 核心功能详解 → 非功能需求与用户角色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27432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功能需求一览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34440"/>
            <a:ext cx="39776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45720" cy="80467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685800" y="128016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1. 算法运行与可视化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572768"/>
            <a:ext cx="36118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6大类17+种算法分步执行。排序用柱状图、图用SVG、DP用表格、回溯用棋盘——每种算法有专属的展示方式。支持前进后退、自动播放和进度跳转。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39776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234440"/>
            <a:ext cx="45720" cy="80467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2" name="Text 10"/>
          <p:cNvSpPr/>
          <p:nvPr/>
        </p:nvSpPr>
        <p:spPr>
          <a:xfrm>
            <a:off x="4983480" y="128016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2. 教学阶段引导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572768"/>
            <a:ext cx="36118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把每种算法的执行过程拆成几个教学阶段，用进度条实时显示当前进行到哪一步了。比如快速排序就分成"选基准→比较→交换→归位→完成"五个阶段。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130552"/>
            <a:ext cx="39776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176272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3. 双算法对比模式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2468880"/>
            <a:ext cx="36118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选两个同类型的算法并排运行，一个播放控制器同时推。比如快速排序和归并排序并排对比——谁的步骤少、谁比较次数少，一目了然。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2130552"/>
            <a:ext cx="39776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2130552"/>
            <a:ext cx="45720" cy="804672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0" name="Text 18"/>
          <p:cNvSpPr/>
          <p:nvPr/>
        </p:nvSpPr>
        <p:spPr>
          <a:xfrm>
            <a:off x="4983480" y="2176272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4. 评估测试系统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2468880"/>
            <a:ext cx="36118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5道算法理解题，自动判分。简单题前端直接比对，复杂题后端跑一遍算法拿标准答案。每题给对错反馈和解析，最后出分数。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026664"/>
            <a:ext cx="39776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026664"/>
            <a:ext cx="45720" cy="80467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4" name="Text 22"/>
          <p:cNvSpPr/>
          <p:nvPr/>
        </p:nvSpPr>
        <p:spPr>
          <a:xfrm>
            <a:off x="685800" y="307238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5. AI 复杂度分析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3364992"/>
            <a:ext cx="36118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贴一段代码进去，选好语言和分析场景（最坏/平均/最好），大模型帮你分析时间复杂度和空间复杂度，还给推理步骤和优化建议。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3026664"/>
            <a:ext cx="39776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3026664"/>
            <a:ext cx="45720" cy="80467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8" name="Text 26"/>
          <p:cNvSpPr/>
          <p:nvPr/>
        </p:nvSpPr>
        <p:spPr>
          <a:xfrm>
            <a:off x="4983480" y="307238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6. 3D 数据结构展示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83480" y="3364992"/>
            <a:ext cx="36118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 Three.js 把数组、栈、队列、链表、二叉树、B+树做成3D模型，可以旋转缩放，还能演示插入删除这些操作。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3922776"/>
            <a:ext cx="39776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922776"/>
            <a:ext cx="45720" cy="804672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32" name="Text 30"/>
          <p:cNvSpPr/>
          <p:nvPr/>
        </p:nvSpPr>
        <p:spPr>
          <a:xfrm>
            <a:off x="685800" y="3968496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7. 用户登录注册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5800" y="4261104"/>
            <a:ext cx="36118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注册后需要手动输入密码登录，密码用SHA-256加盐哈希存数据库，不在代码里留明文。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3922776"/>
            <a:ext cx="39776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3922776"/>
            <a:ext cx="45720" cy="804672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36" name="Text 34"/>
          <p:cNvSpPr/>
          <p:nvPr/>
        </p:nvSpPr>
        <p:spPr>
          <a:xfrm>
            <a:off x="4983480" y="3968496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8. 运行历史记录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83480" y="4261104"/>
            <a:ext cx="36118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每次跑算法自动记录用了什么参数、跑了多少步、比较了多少次、花了多少毫秒。可以按类别筛选和删除。</a:t>
            </a:r>
            <a:endParaRPr lang="en-US" sz="1000" dirty="0"/>
          </a:p>
        </p:txBody>
      </p:sp>
      <p:sp>
        <p:nvSpPr>
          <p:cNvPr id="38" name="Shape 17"/>
          <p:cNvSpPr/>
          <p:nvPr/>
        </p:nvSpPr>
        <p:spPr>
          <a:xfrm>
            <a:off x="502920" y="2130552"/>
            <a:ext cx="45720" cy="804672"/>
          </a:xfrm>
          <a:prstGeom prst="rect">
            <a:avLst/>
          </a:prstGeom>
          <a:solidFill>
            <a:srgbClr val="059669"/>
          </a:solid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27432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核心功能详解（上）—— 可视化、教学引导、对比模式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502920" y="1234440"/>
            <a:ext cx="8138160" cy="10515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502920" y="1234440"/>
            <a:ext cx="45720" cy="10515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777240" y="1280160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算法运行与可视化</a:t>
            </a:r>
            <a:endParaRPr lang="en-US" sz="150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777240" y="1618488"/>
            <a:ext cx="75895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覆盖6大类17+种算法。每种算法有专属渲染方式：排序→柱状图动画，图→SVG节点连线，DP→二维表格填充，回溯→棋盘，分治→递归树。每步都带描述文字和当前指标（比较次数、交换次数等），用户可以逐步前进、后退，也可以自动播放，速度可调四档。</a:t>
            </a:r>
            <a:endParaRPr lang="en-US" sz="1200" dirty="0"/>
          </a:p>
        </p:txBody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502920" y="2468880"/>
            <a:ext cx="8138160" cy="10515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1" name="Shape 9"/>
          <p:cNvSpPr/>
          <p:nvPr>
            <p:custDataLst>
              <p:tags r:id="rId6"/>
            </p:custDataLst>
          </p:nvPr>
        </p:nvSpPr>
        <p:spPr>
          <a:xfrm>
            <a:off x="502920" y="2468880"/>
            <a:ext cx="45720" cy="105156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777240" y="2514600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59669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教学阶段引导 —— 把"算法在做什么"变成看得见的进度条</a:t>
            </a:r>
            <a:endParaRPr lang="en-US" sz="1500" dirty="0"/>
          </a:p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777240" y="2852928"/>
            <a:ext cx="75895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以快速排序为例，执行过程被拆成选基准值→比较分区→交换元素→基准值归位→排序完成五个阶段。后端每一步标注当前属于哪个阶段，前端用进度条展示。已完成的打绿色勾，当前阶段蓝色高亮，还没到的显示灰色。14种算法各有独立的阶段序列。</a:t>
            </a:r>
            <a:endParaRPr lang="en-US" sz="1200" dirty="0"/>
          </a:p>
        </p:txBody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502920" y="3703320"/>
            <a:ext cx="8138160" cy="10515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5" name="Shape 13"/>
          <p:cNvSpPr/>
          <p:nvPr>
            <p:custDataLst>
              <p:tags r:id="rId10"/>
            </p:custDataLst>
          </p:nvPr>
        </p:nvSpPr>
        <p:spPr>
          <a:xfrm>
            <a:off x="502920" y="3703320"/>
            <a:ext cx="45720" cy="105156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777240" y="3749040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770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双算法对比模式</a:t>
            </a:r>
            <a:endParaRPr lang="en-US" sz="1500" dirty="0"/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777240" y="4087368"/>
            <a:ext cx="75895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同一类型的两个算法可以并排同时运行。左边快速排序，右边归并排序，一个播放键同时控制两边。上方有指标对比面板——</a:t>
            </a:r>
            <a:r>
              <a:rPr lang="en-US" sz="1200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步数、比较次数、操作次数谁更少谁标绿</a:t>
            </a: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27432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核心功能详解（下）—— 评估测试、AI分析、3D展示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34440"/>
            <a:ext cx="8138160" cy="10515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" name="Shape 5"/>
          <p:cNvSpPr/>
          <p:nvPr/>
        </p:nvSpPr>
        <p:spPr>
          <a:xfrm>
            <a:off x="502920" y="1234440"/>
            <a:ext cx="45720" cy="105156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8" name="Text 6"/>
          <p:cNvSpPr/>
          <p:nvPr/>
        </p:nvSpPr>
        <p:spPr>
          <a:xfrm>
            <a:off x="777240" y="1280160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262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评估测试系统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618488"/>
            <a:ext cx="75895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道题覆盖排序、搜索、图和动态规划。题型有数值填空、状态填空、路径填空、表格填空四种。简单题前端直接比对答案；复杂题调用后端接口重新跑一遍算法拿标准结果再比。每题提交后给对错反馈和详细中文解析，全部做完显示总分（满分5分）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468880"/>
            <a:ext cx="8138160" cy="10515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1" name="Shape 9"/>
          <p:cNvSpPr/>
          <p:nvPr/>
        </p:nvSpPr>
        <p:spPr>
          <a:xfrm>
            <a:off x="502920" y="2468880"/>
            <a:ext cx="45720" cy="105156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2" name="Text 10"/>
          <p:cNvSpPr/>
          <p:nvPr/>
        </p:nvSpPr>
        <p:spPr>
          <a:xfrm>
            <a:off x="777240" y="2514600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C3AE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AI 复杂度分析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2852928"/>
            <a:ext cx="75895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把算法代码贴进去，选好语言和分析场景（最坏/平均/最好情况）。后端把代码包装成提示词发给大模型（DeepSeek-V3.2），要求返回JSON格式。拿到结果后提取时间空间复杂度、推理步骤、假设条件和优化建议，前端分卡片展示。API不可用时有兜底的错误提示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703320"/>
            <a:ext cx="8138160" cy="10515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5" name="Shape 13"/>
          <p:cNvSpPr/>
          <p:nvPr/>
        </p:nvSpPr>
        <p:spPr>
          <a:xfrm>
            <a:off x="502920" y="3703320"/>
            <a:ext cx="45720" cy="10515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6" name="Text 14"/>
          <p:cNvSpPr/>
          <p:nvPr/>
        </p:nvSpPr>
        <p:spPr>
          <a:xfrm>
            <a:off x="777240" y="3749040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3D 数据结构展示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087368"/>
            <a:ext cx="75895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于Three.js，六种数据结构每种有独立渲染器：数组、栈、队列、链表、二叉树、B+树。B+树的动画系统最复杂，支持插入的叶子分裂动画、删除的借位合并动画、范围查询的顺序扫描动画。二叉树渲染修复了BST生成问题——先生成不重复的值，再按二叉搜索树插入顺序排列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系统设计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4114800"/>
            <a:ext cx="76809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114800"/>
            <a:ext cx="45720" cy="5943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" name="Text 5"/>
          <p:cNvSpPr/>
          <p:nvPr/>
        </p:nvSpPr>
        <p:spPr>
          <a:xfrm>
            <a:off x="1051560" y="4114800"/>
            <a:ext cx="7178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本节要点：三层架构总览 → 前端组件化设计 → 后端分层结构 → 数据流 → 设计要点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27432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系统架构总览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8138160" cy="9144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" name="Shape 5"/>
          <p:cNvSpPr/>
          <p:nvPr/>
        </p:nvSpPr>
        <p:spPr>
          <a:xfrm>
            <a:off x="502920" y="1371600"/>
            <a:ext cx="54864" cy="9144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868680" y="1426464"/>
            <a:ext cx="7498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浏览器端 — Angular 17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1801368"/>
            <a:ext cx="7498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侧边栏 · 控制面板 · 教学引导 · 7个可视化组件 · 评估测试 · 历史记录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560320"/>
            <a:ext cx="8138160" cy="9144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1" name="Shape 9"/>
          <p:cNvSpPr/>
          <p:nvPr/>
        </p:nvSpPr>
        <p:spPr>
          <a:xfrm>
            <a:off x="502920" y="2560320"/>
            <a:ext cx="54864" cy="91440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2" name="Text 10"/>
          <p:cNvSpPr/>
          <p:nvPr/>
        </p:nvSpPr>
        <p:spPr>
          <a:xfrm>
            <a:off x="868680" y="2615184"/>
            <a:ext cx="7498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59669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后端服务 — Spring Boot 3.2 (Java 17)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2990088"/>
            <a:ext cx="7498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算法控制器(10+端点) · 认证控制器 · 8个算法服务 · 模型层 · 数据访问层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8138160" cy="9144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5" name="Shape 13"/>
          <p:cNvSpPr/>
          <p:nvPr/>
        </p:nvSpPr>
        <p:spPr>
          <a:xfrm>
            <a:off x="502920" y="3749040"/>
            <a:ext cx="54864" cy="91440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6" name="Text 14"/>
          <p:cNvSpPr/>
          <p:nvPr/>
        </p:nvSpPr>
        <p:spPr>
          <a:xfrm>
            <a:off x="868680" y="3803904"/>
            <a:ext cx="7498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770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数据库 — MySQL 8.0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4178808"/>
            <a:ext cx="7498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algorithm_viz库 · 用户表(app_user) · 运行历史表(run_history) · 自动建表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2304288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 HTTP 请求 (JSON格式)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0" y="3502152"/>
            <a:ext cx="2286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 JDBC 数据库连接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27432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 err="1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前端</a:t>
            </a:r>
            <a:r>
              <a:rPr lang="zh-CN" altLang="en-US" sz="2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展示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163" y="1234441"/>
            <a:ext cx="8431674" cy="3694927"/>
          </a:xfrm>
          <a:prstGeom prst="rect">
            <a:avLst/>
          </a:prstGeom>
        </p:spPr>
      </p:pic>
      <p:sp>
        <p:nvSpPr>
          <p:cNvPr id="26" name="对话气泡: 矩形 25"/>
          <p:cNvSpPr/>
          <p:nvPr/>
        </p:nvSpPr>
        <p:spPr>
          <a:xfrm>
            <a:off x="7540283" y="446650"/>
            <a:ext cx="1055077" cy="787791"/>
          </a:xfrm>
          <a:prstGeom prst="wedgeRectCallou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</a:rPr>
              <a:t>用户个人信息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27432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前端架构设计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组件结构（独立组件模式，无需模块）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AppComponent（根组件）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1801368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AuthComponent          登录/注册表单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2002536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SidebarComponent       算法选择+对比开关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2203704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ControlPanelComponent  播放/步进/速度控制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2404872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InputConfigComponent   输入数据编辑面板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PhaseGuideComponent    教学阶段进度条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48640" y="2807208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7个Visualizers（按分类切换显示）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48640" y="3008376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Sorting / Graph / Search / DP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48640" y="3209544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NQueens / DivideConquer / Vr3d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48640" y="3410712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AssessmentComponent    5题评估测试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HistoryPanelComponent  运行历史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8640" y="3813048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└── AiComplexityDialog     AI分析弹窗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617720" y="128473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59669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数据管理方式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17720" y="1696212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用一个集中的Store管理页面状态，不依赖第三方库。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17720" y="2199132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当前算法、当前步骤、是否播放等状态变化时，对应的可视化组件自动更新。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17720" y="2702052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对比模式维护独立的第二套状态，两个算法各自管理各自的步骤和播放进度。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17720" y="3204972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切换速度或暂停时，主算法和对比算法的播放同步重建。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17720" y="3707892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教学阶段和对比指标都是基于当前步骤自动计算得到的，不需要手动维护。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27432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后端分层结构与设计要点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25880"/>
            <a:ext cx="8138160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" name="Shape 5"/>
          <p:cNvSpPr/>
          <p:nvPr/>
        </p:nvSpPr>
        <p:spPr>
          <a:xfrm>
            <a:off x="502920" y="1325880"/>
            <a:ext cx="45720" cy="5029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822960" y="134416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控制器层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581912"/>
            <a:ext cx="754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算法控制器（10+端点：排序/搜索/图/DP/回溯/分治/验证/历史/健康检查）+ 认证控制器（注册/登录）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8138160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1" name="Shape 9"/>
          <p:cNvSpPr/>
          <p:nvPr/>
        </p:nvSpPr>
        <p:spPr>
          <a:xfrm>
            <a:off x="502920" y="1920240"/>
            <a:ext cx="45720" cy="50292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2" name="Text 10"/>
          <p:cNvSpPr/>
          <p:nvPr/>
        </p:nvSpPr>
        <p:spPr>
          <a:xfrm>
            <a:off x="822960" y="193852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9669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服务层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176272"/>
            <a:ext cx="754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8个服务：排序(5种算法)、搜索(1种)、图(6种)、动态规划(1种)、回溯(1种)、分治(1种)、AI复杂度分析、用户认证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514600"/>
            <a:ext cx="8138160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5" name="Shape 13"/>
          <p:cNvSpPr/>
          <p:nvPr/>
        </p:nvSpPr>
        <p:spPr>
          <a:xfrm>
            <a:off x="502920" y="2514600"/>
            <a:ext cx="45720" cy="50292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6" name="Text 14"/>
          <p:cNvSpPr/>
          <p:nvPr/>
        </p:nvSpPr>
        <p:spPr>
          <a:xfrm>
            <a:off x="822960" y="253288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770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模型与数据层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2770632"/>
            <a:ext cx="754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7种步骤模型（手动构建器）+10个请求响应对象 + 2个数据表实体 + 2个数据访问接口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2461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设计要点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502920" y="3566160"/>
          <a:ext cx="8138160" cy="1188720"/>
        </p:xfrm>
        <a:graphic>
          <a:graphicData uri="http://schemas.openxmlformats.org/drawingml/2006/table">
            <a:tbl>
              <a:tblPr/>
              <a:tblGrid>
                <a:gridCol w="457200"/>
                <a:gridCol w="3840480"/>
                <a:gridCol w="3840480"/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#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设计决策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原因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按分类设端点而非每算法一个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同分类输入输出结构一样，端点数和维护量都更少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前端用一个Store管状态，不用第三方库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Angular自带能力已够用，能少引入一个依赖就少一个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教学阶段用字符串而非枚举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每种算法的阶段不同，字符串灵活不强制统一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对比模式只限同类型算法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不同类型用不同展示方式，跨类型没法并排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27432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数据流 —— 从点击运行到画面更新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44168"/>
            <a:ext cx="301752" cy="301752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7" name="Text 5"/>
          <p:cNvSpPr/>
          <p:nvPr/>
        </p:nvSpPr>
        <p:spPr>
          <a:xfrm>
            <a:off x="548640" y="1344168"/>
            <a:ext cx="301752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9516" y="1645920"/>
            <a:ext cx="0" cy="2103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3258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用户选择算法并点击运行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563624"/>
            <a:ext cx="7178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前端发HTTP请求到后端对应接口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920240"/>
            <a:ext cx="301752" cy="301752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2" name="Text 10"/>
          <p:cNvSpPr/>
          <p:nvPr/>
        </p:nvSpPr>
        <p:spPr>
          <a:xfrm>
            <a:off x="548640" y="1920240"/>
            <a:ext cx="301752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9516" y="2221992"/>
            <a:ext cx="0" cy="2103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90195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后端运行算法生成步骤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139696"/>
            <a:ext cx="7178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算法执行过程中每做一步就记录状态、打上阶段标记，最后存到历史表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496312"/>
            <a:ext cx="301752" cy="301752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7" name="Text 15"/>
          <p:cNvSpPr/>
          <p:nvPr/>
        </p:nvSpPr>
        <p:spPr>
          <a:xfrm>
            <a:off x="548640" y="2496312"/>
            <a:ext cx="301752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9516" y="2798064"/>
            <a:ext cx="0" cy="2103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2478024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前端收到数据并保存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2715768"/>
            <a:ext cx="7178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把步骤列表和当前步数存下来，页面自动从加载状态切换到展示状态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072384"/>
            <a:ext cx="301752" cy="301752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2" name="Text 20"/>
          <p:cNvSpPr/>
          <p:nvPr/>
        </p:nvSpPr>
        <p:spPr>
          <a:xfrm>
            <a:off x="548640" y="3072384"/>
            <a:ext cx="301752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9516" y="3374136"/>
            <a:ext cx="0" cy="2103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3054096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可视化组件自动更新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3291840"/>
            <a:ext cx="7178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当前步骤数据变化 → 排序柱状图变色、图节点连线高亮、DP表格填充数字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648456"/>
            <a:ext cx="301752" cy="301752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7" name="Text 25"/>
          <p:cNvSpPr/>
          <p:nvPr/>
        </p:nvSpPr>
        <p:spPr>
          <a:xfrm>
            <a:off x="548640" y="3648456"/>
            <a:ext cx="301752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9516" y="3950208"/>
            <a:ext cx="0" cy="2103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363016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教学阶段进度条同步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51560" y="3867912"/>
            <a:ext cx="7178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当前步骤的阶段标记变化 → 进度条上的亮点移动到新的阶段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4224528"/>
            <a:ext cx="301752" cy="301752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32" name="Text 30"/>
          <p:cNvSpPr/>
          <p:nvPr/>
        </p:nvSpPr>
        <p:spPr>
          <a:xfrm>
            <a:off x="548640" y="4224528"/>
            <a:ext cx="301752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51560" y="420624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播放循环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51560" y="4443984"/>
            <a:ext cx="7178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每过半秒自动前进到下一步 → 第4、5步重复 → 到最后一步自动停</a:t>
            </a:r>
            <a:endParaRPr lang="en-US" sz="1000" dirty="0"/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8275" y="1088390"/>
            <a:ext cx="3808095" cy="1823720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275" y="3143250"/>
            <a:ext cx="3825240" cy="1818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27432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数据流 —— </a:t>
            </a:r>
            <a:r>
              <a:rPr lang="zh-CN" altLang="en-US" sz="2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具体实现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文本框 4"/>
          <p:cNvSpPr txBox="1"/>
          <p:nvPr/>
        </p:nvSpPr>
        <p:spPr>
          <a:xfrm>
            <a:off x="548640" y="1005840"/>
            <a:ext cx="804672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第一步核心内容：</a:t>
            </a:r>
            <a:r>
              <a:rPr lang="de-DE" altLang="zh-CN" sz="1400" dirty="0"/>
              <a:t>frontend\src\app\store\algorithm.store.ts</a:t>
            </a:r>
            <a:r>
              <a:rPr lang="zh-CN" altLang="en-US" sz="1400" dirty="0"/>
              <a:t>中的</a:t>
            </a:r>
            <a:r>
              <a:rPr lang="de-DE" altLang="zh-CN" sz="1400" b="1" dirty="0"/>
              <a:t>dispatchRun</a:t>
            </a:r>
            <a:r>
              <a:rPr lang="zh-CN" altLang="en-US" sz="1400" dirty="0"/>
              <a:t>函数，根据</a:t>
            </a:r>
            <a:r>
              <a:rPr lang="en-US" altLang="zh-CN" sz="1400" dirty="0"/>
              <a:t>category</a:t>
            </a:r>
            <a:r>
              <a:rPr lang="zh-CN" altLang="en-US" sz="1400" dirty="0"/>
              <a:t>类型转发到不同的</a:t>
            </a:r>
            <a:r>
              <a:rPr lang="en-US" altLang="zh-CN" sz="1400" dirty="0"/>
              <a:t>http</a:t>
            </a:r>
            <a:r>
              <a:rPr lang="zh-CN" altLang="en-US" sz="1400" dirty="0"/>
              <a:t>请求。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de-DE" altLang="zh-CN" sz="1400" dirty="0"/>
              <a:t>if (cat === 'sorting') {</a:t>
            </a:r>
            <a:endParaRPr lang="de-DE" altLang="zh-CN" sz="1400" dirty="0"/>
          </a:p>
          <a:p>
            <a:r>
              <a:rPr lang="de-DE" altLang="zh-CN" sz="1400" dirty="0"/>
              <a:t>      this.svc.runSort(algo, this.sortArray()).subscribe({ next: r =&gt; onSuccess(r.steps), error: onError });</a:t>
            </a:r>
            <a:endParaRPr lang="de-DE" altLang="zh-CN" sz="1400" dirty="0"/>
          </a:p>
          <a:p>
            <a:r>
              <a:rPr lang="de-DE" altLang="zh-CN" sz="1400" dirty="0"/>
              <a:t>    } else if (cat === 'search') {</a:t>
            </a:r>
            <a:endParaRPr lang="de-DE" altLang="zh-CN" sz="1400" dirty="0"/>
          </a:p>
          <a:p>
            <a:r>
              <a:rPr lang="de-DE" altLang="zh-CN" sz="1400" dirty="0"/>
              <a:t>      this.svc.runSearch(algo, this.searchArray(), this.searchTarget()).subscribe({ next: r =&gt; onSuccess(r.steps), error: onError });</a:t>
            </a:r>
            <a:endParaRPr lang="de-DE" altLang="zh-CN" sz="1400" dirty="0"/>
          </a:p>
          <a:p>
            <a:r>
              <a:rPr lang="de-DE" altLang="zh-CN" sz="1400" dirty="0"/>
              <a:t>    } else if (cat === 'graph') {</a:t>
            </a:r>
            <a:endParaRPr lang="de-DE" altLang="zh-CN" sz="1400" dirty="0"/>
          </a:p>
          <a:p>
            <a:r>
              <a:rPr lang="de-DE" altLang="zh-CN" sz="1400" dirty="0"/>
              <a:t>      this.svc.runGraph(algo, this.graphData(), this.graphStart(), this.graphEnd()).subscribe({ next: r =&gt; onSuccess(r.steps), error: onError });</a:t>
            </a:r>
            <a:endParaRPr lang="de-DE" altLang="zh-CN" sz="1400" dirty="0"/>
          </a:p>
          <a:p>
            <a:r>
              <a:rPr lang="de-DE" altLang="zh-CN" sz="1400" dirty="0"/>
              <a:t>    } else if (cat === 'dp') {</a:t>
            </a:r>
            <a:endParaRPr lang="de-DE" altLang="zh-CN" sz="1400" dirty="0"/>
          </a:p>
          <a:p>
            <a:r>
              <a:rPr lang="de-DE" altLang="zh-CN" sz="1400" dirty="0"/>
              <a:t>      this.svc.runDP(algo, this.knapsackItems(), this.knapsackCap()).subscribe({ next: r =&gt; onSuccess(r.steps), error: onError });</a:t>
            </a:r>
            <a:endParaRPr lang="de-DE" altLang="zh-CN" sz="1400" dirty="0"/>
          </a:p>
          <a:p>
            <a:r>
              <a:rPr lang="de-DE" altLang="zh-CN" sz="1400" dirty="0"/>
              <a:t>    } else if (cat === 'backtracking') {</a:t>
            </a:r>
            <a:endParaRPr lang="de-DE" altLang="zh-CN" sz="1400" dirty="0"/>
          </a:p>
          <a:p>
            <a:r>
              <a:rPr lang="de-DE" altLang="zh-CN" sz="1400" dirty="0"/>
              <a:t>      this.svc.runBacktracking(algo, this.queensN()).subscribe({ next: r =&gt; onSuccess(r.steps), error: onError });</a:t>
            </a:r>
            <a:endParaRPr lang="de-DE" altLang="zh-CN" sz="1400" dirty="0"/>
          </a:p>
          <a:p>
            <a:r>
              <a:rPr lang="de-DE" altLang="zh-CN" sz="1400" dirty="0"/>
              <a:t>    } else if (cat === 'divide-conquer') {</a:t>
            </a:r>
            <a:endParaRPr lang="de-DE" altLang="zh-CN" sz="1400" dirty="0"/>
          </a:p>
          <a:p>
            <a:r>
              <a:rPr lang="de-DE" altLang="zh-CN" sz="1400" dirty="0"/>
              <a:t>      this.svc.runDivideConquer(algo, this.divideX(), this.divideY()).subscribe({ next: r =&gt; onSuccess(r.steps), error: onError });}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核心实现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4114800"/>
            <a:ext cx="76809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114800"/>
            <a:ext cx="45720" cy="5943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" name="Text 5"/>
          <p:cNvSpPr/>
          <p:nvPr/>
        </p:nvSpPr>
        <p:spPr>
          <a:xfrm>
            <a:off x="1051560" y="4114800"/>
            <a:ext cx="7178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本节要点：步骤生成模式 → 教学阶段系统 → 对比模式 → 评估判分 → AI分析 → 3D渲染 → 用户认证 → 数据库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27432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算法步骤生成机制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所有算法遵循统一的"记录每步状态"模式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79095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 初始化：创建初始状态，计数器归零，生成第一条描述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993392"/>
            <a:ext cx="79095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 执行过程中：算法的每个关键操作（比较、交换、入队、出栈等）都生成一个步骤记录，标注当前属于哪个教学阶段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340864"/>
            <a:ext cx="79095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③ 完成标记：算法结束后生成最终步骤，包含总比较次数、总操作次数等指标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688336"/>
            <a:ext cx="79095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④ 返回给前端：步骤列表 + 步数 + 比较次数 + 耗时，统一JSON格式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9243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9669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实现的算法（6大类，17+种）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3145790" y="3200400"/>
          <a:ext cx="4192905" cy="1554480"/>
        </p:xfrm>
        <a:graphic>
          <a:graphicData uri="http://schemas.openxmlformats.org/drawingml/2006/table">
            <a:tbl>
              <a:tblPr/>
              <a:tblGrid>
                <a:gridCol w="1463040"/>
                <a:gridCol w="2729865"/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排序 5种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快速 · 归并 · 冒泡 · 堆 · 插入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搜索 1种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二分查找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图 6种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Dijkstra · BFS · DFS · Prim · Kruskal · A* 寻路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DP 1种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0/1 背包（填表+回溯方案）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回溯 1种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 皇后（递归+回溯+收集所有解）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分治 1种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Karatsuba 大整数乘法（递归树可视化）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10"/>
          <p:cNvSpPr/>
          <p:nvPr/>
        </p:nvSpPr>
        <p:spPr>
          <a:xfrm>
            <a:off x="7589520" y="2031476"/>
            <a:ext cx="457200" cy="457200"/>
          </a:xfrm>
          <a:prstGeom prst="ellipse">
            <a:avLst/>
          </a:prstGeom>
          <a:solidFill>
            <a:srgbClr val="059669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36" name="Shape 10"/>
          <p:cNvSpPr/>
          <p:nvPr/>
        </p:nvSpPr>
        <p:spPr>
          <a:xfrm>
            <a:off x="5989320" y="2011679"/>
            <a:ext cx="457200" cy="457200"/>
          </a:xfrm>
          <a:prstGeom prst="ellipse">
            <a:avLst/>
          </a:prstGeom>
          <a:solidFill>
            <a:srgbClr val="059669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2" name="Shape 0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27432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教学阶段引导系统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8138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核心思路：后端标注阶段 → 前端翻译成中文 → 进度条展示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以快速排序为例的阶段流程：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88720" y="2011680"/>
            <a:ext cx="457200" cy="457200"/>
          </a:xfrm>
          <a:prstGeom prst="ellipse">
            <a:avLst/>
          </a:prstGeom>
          <a:solidFill>
            <a:srgbClr val="059669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Text 7"/>
          <p:cNvSpPr/>
          <p:nvPr/>
        </p:nvSpPr>
        <p:spPr>
          <a:xfrm>
            <a:off x="1188720" y="20116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anose="020B0A04020102020204" pitchFamily="34" charset="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560320"/>
            <a:ext cx="1188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选基准值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45920" y="2240280"/>
            <a:ext cx="114300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8920" y="2011680"/>
            <a:ext cx="457200" cy="457200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13" name="Text 11"/>
          <p:cNvSpPr/>
          <p:nvPr/>
        </p:nvSpPr>
        <p:spPr>
          <a:xfrm>
            <a:off x="2788920" y="20116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anose="020B0A04020102020204" pitchFamily="34" charset="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23160" y="2560320"/>
            <a:ext cx="1188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比较分区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2240280"/>
            <a:ext cx="1207008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2011680"/>
            <a:ext cx="457200" cy="457200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17" name="Text 15"/>
          <p:cNvSpPr/>
          <p:nvPr/>
        </p:nvSpPr>
        <p:spPr>
          <a:xfrm>
            <a:off x="4389120" y="20116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anose="020B0A04020102020204" pitchFamily="34" charset="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23360" y="2560320"/>
            <a:ext cx="1188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交换元素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240279"/>
            <a:ext cx="1143000" cy="9133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20116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23560" y="2560320"/>
            <a:ext cx="1188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CN" alt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基准归位</a:t>
            </a:r>
            <a:endParaRPr lang="en-US" altLang="zh-CN" sz="1100" dirty="0"/>
          </a:p>
        </p:txBody>
      </p:sp>
      <p:sp>
        <p:nvSpPr>
          <p:cNvPr id="25" name="Text 23"/>
          <p:cNvSpPr/>
          <p:nvPr/>
        </p:nvSpPr>
        <p:spPr>
          <a:xfrm>
            <a:off x="7589520" y="20116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23760" y="2560320"/>
            <a:ext cx="1188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排序完成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30632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14种算法各有独立的阶段序列：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" y="33832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Dijkstra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48840" y="33832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初始化 → 选最近节点 → 探索邻边 → 更新距离 → 重建路径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37033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0/1 背包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48840" y="37033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初始化DP表 → 超重跳过 → 比较取舍 → 取/不取 → 回溯方案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" y="40233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N 皇后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148840" y="402336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初始化棋盘 → 尝试放置 → 放置 → 找到解 → 回溯 → 完成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" y="43434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Karatsuba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148840" y="43434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分割数字 → 拆解 → 算z2→z0→z1 → 合并结果 → 完成</a:t>
            </a:r>
            <a:endParaRPr lang="en-US" sz="1000" dirty="0"/>
          </a:p>
        </p:txBody>
      </p:sp>
      <p:sp>
        <p:nvSpPr>
          <p:cNvPr id="41" name="Shape 17"/>
          <p:cNvSpPr/>
          <p:nvPr/>
        </p:nvSpPr>
        <p:spPr>
          <a:xfrm>
            <a:off x="6446520" y="2260076"/>
            <a:ext cx="1143000" cy="9133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10"/>
          <p:cNvSpPr/>
          <p:nvPr/>
        </p:nvSpPr>
        <p:spPr>
          <a:xfrm>
            <a:off x="7589520" y="1437116"/>
            <a:ext cx="457200" cy="457200"/>
          </a:xfrm>
          <a:prstGeom prst="ellipse">
            <a:avLst/>
          </a:prstGeom>
          <a:solidFill>
            <a:srgbClr val="059669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36" name="Shape 10"/>
          <p:cNvSpPr/>
          <p:nvPr/>
        </p:nvSpPr>
        <p:spPr>
          <a:xfrm>
            <a:off x="5989320" y="1417319"/>
            <a:ext cx="457200" cy="457200"/>
          </a:xfrm>
          <a:prstGeom prst="ellipse">
            <a:avLst/>
          </a:prstGeom>
          <a:solidFill>
            <a:srgbClr val="059669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2" name="Shape 0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27432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教学阶段引导系统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以快速排序为例的阶段流程</a:t>
            </a:r>
            <a:r>
              <a:rPr lang="zh-CN" altLang="en-US" sz="12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和具体代码</a:t>
            </a:r>
            <a:r>
              <a:rPr lang="en-US" sz="12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88720" y="1417320"/>
            <a:ext cx="457200" cy="457200"/>
          </a:xfrm>
          <a:prstGeom prst="ellipse">
            <a:avLst/>
          </a:prstGeom>
          <a:solidFill>
            <a:srgbClr val="059669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Text 7"/>
          <p:cNvSpPr/>
          <p:nvPr/>
        </p:nvSpPr>
        <p:spPr>
          <a:xfrm>
            <a:off x="1188720" y="14173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anose="020B0A04020102020204" pitchFamily="34" charset="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1188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选基准值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45920" y="1645920"/>
            <a:ext cx="114300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8920" y="1417320"/>
            <a:ext cx="457200" cy="457200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13" name="Text 11"/>
          <p:cNvSpPr/>
          <p:nvPr/>
        </p:nvSpPr>
        <p:spPr>
          <a:xfrm>
            <a:off x="2788920" y="14173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anose="020B0A04020102020204" pitchFamily="34" charset="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23160" y="1965960"/>
            <a:ext cx="1188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比较分区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1645920"/>
            <a:ext cx="1207008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1417320"/>
            <a:ext cx="457200" cy="457200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17" name="Text 15"/>
          <p:cNvSpPr/>
          <p:nvPr/>
        </p:nvSpPr>
        <p:spPr>
          <a:xfrm>
            <a:off x="4389120" y="14173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anose="020B0A04020102020204" pitchFamily="34" charset="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23360" y="1965960"/>
            <a:ext cx="1188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交换元素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645919"/>
            <a:ext cx="1143000" cy="9133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14173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23560" y="1965960"/>
            <a:ext cx="1188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CN" alt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基准归位</a:t>
            </a:r>
            <a:endParaRPr lang="en-US" altLang="zh-CN" sz="1100" dirty="0"/>
          </a:p>
        </p:txBody>
      </p:sp>
      <p:sp>
        <p:nvSpPr>
          <p:cNvPr id="25" name="Text 23"/>
          <p:cNvSpPr/>
          <p:nvPr/>
        </p:nvSpPr>
        <p:spPr>
          <a:xfrm>
            <a:off x="7589520" y="14173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23760" y="1965960"/>
            <a:ext cx="1188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排序完成</a:t>
            </a:r>
            <a:endParaRPr lang="en-US" sz="1100" dirty="0"/>
          </a:p>
        </p:txBody>
      </p:sp>
      <p:sp>
        <p:nvSpPr>
          <p:cNvPr id="41" name="Shape 17"/>
          <p:cNvSpPr/>
          <p:nvPr/>
        </p:nvSpPr>
        <p:spPr>
          <a:xfrm>
            <a:off x="6446520" y="1665716"/>
            <a:ext cx="1143000" cy="9133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5" name="文本框 4"/>
          <p:cNvSpPr txBox="1"/>
          <p:nvPr/>
        </p:nvSpPr>
        <p:spPr>
          <a:xfrm>
            <a:off x="502920" y="2194560"/>
            <a:ext cx="40198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zh-CN" sz="1200" dirty="0"/>
              <a:t>private int partition(int[] arr, int low, int high, ...) {</a:t>
            </a:r>
            <a:endParaRPr lang="de-DE" altLang="zh-CN" sz="1200" dirty="0"/>
          </a:p>
          <a:p>
            <a:r>
              <a:rPr lang="de-DE" altLang="zh-CN" sz="1200" dirty="0"/>
              <a:t>  int pivot = arr[high];</a:t>
            </a:r>
            <a:endParaRPr lang="de-DE" altLang="zh-CN" sz="1200" dirty="0"/>
          </a:p>
          <a:p>
            <a:r>
              <a:rPr lang="de-DE" altLang="zh-CN" sz="1200" dirty="0"/>
              <a:t>  // ========== phase: "select_pivot" ==========</a:t>
            </a:r>
            <a:endParaRPr lang="de-DE" altLang="zh-CN" sz="1200" dirty="0"/>
          </a:p>
          <a:p>
            <a:r>
              <a:rPr lang="de-DE" altLang="zh-CN" sz="1200" dirty="0"/>
              <a:t>  steps.add(buildSortStep(arr, sorted, ...,</a:t>
            </a:r>
            <a:endParaRPr lang="de-DE" altLang="zh-CN" sz="1200" dirty="0"/>
          </a:p>
          <a:p>
            <a:r>
              <a:rPr lang="de-DE" altLang="zh-CN" sz="1200" dirty="0"/>
              <a:t>    "</a:t>
            </a:r>
            <a:r>
              <a:rPr lang="zh-CN" altLang="en-US" sz="1200" dirty="0"/>
              <a:t>选择基准值 </a:t>
            </a:r>
            <a:r>
              <a:rPr lang="de-DE" altLang="zh-CN" sz="1200" dirty="0"/>
              <a:t>arr[" + high + "] = " + pivot, 1, "select_pivot"));</a:t>
            </a:r>
            <a:endParaRPr lang="de-DE" altLang="zh-CN" sz="1200" dirty="0"/>
          </a:p>
          <a:p>
            <a:endParaRPr lang="de-DE" altLang="zh-CN" sz="1200" dirty="0"/>
          </a:p>
          <a:p>
            <a:r>
              <a:rPr lang="de-DE" altLang="zh-CN" sz="1200" dirty="0"/>
              <a:t>  int i = low - 1;</a:t>
            </a:r>
            <a:endParaRPr lang="de-DE" altLang="zh-CN" sz="1200" dirty="0"/>
          </a:p>
          <a:p>
            <a:r>
              <a:rPr lang="de-DE" altLang="zh-CN" sz="1200" dirty="0"/>
              <a:t>  for (int j = low; j &lt; high; j++) {</a:t>
            </a:r>
            <a:endParaRPr lang="de-DE" altLang="zh-CN" sz="1200" dirty="0"/>
          </a:p>
          <a:p>
            <a:r>
              <a:rPr lang="de-DE" altLang="zh-CN" sz="1200" dirty="0"/>
              <a:t>    // ========== phase: "compare" ==========</a:t>
            </a:r>
            <a:endParaRPr lang="de-DE" altLang="zh-CN" sz="1200" dirty="0"/>
          </a:p>
          <a:p>
            <a:r>
              <a:rPr lang="de-DE" altLang="zh-CN" sz="1200" dirty="0"/>
              <a:t>    steps.add(buildSortStep(arr, sorted, ...,</a:t>
            </a:r>
            <a:endParaRPr lang="de-DE" altLang="zh-CN" sz="1200" dirty="0"/>
          </a:p>
          <a:p>
            <a:r>
              <a:rPr lang="de-DE" altLang="zh-CN" sz="1200" dirty="0"/>
              <a:t>      "</a:t>
            </a:r>
            <a:r>
              <a:rPr lang="zh-CN" altLang="en-US" sz="1200" dirty="0"/>
              <a:t>比较 </a:t>
            </a:r>
            <a:r>
              <a:rPr lang="de-DE" altLang="zh-CN" sz="1200" dirty="0"/>
              <a:t>arr[" + j + "] </a:t>
            </a:r>
            <a:r>
              <a:rPr lang="zh-CN" altLang="en-US" sz="1200" dirty="0"/>
              <a:t>与基准值 </a:t>
            </a:r>
            <a:r>
              <a:rPr lang="en-US" altLang="zh-CN" sz="1200" dirty="0"/>
              <a:t>" + </a:t>
            </a:r>
            <a:r>
              <a:rPr lang="de-DE" altLang="zh-CN" sz="1200" dirty="0"/>
              <a:t>pivot, 3, "compare"));</a:t>
            </a:r>
            <a:endParaRPr lang="de-DE" altLang="zh-CN" sz="1200" dirty="0"/>
          </a:p>
          <a:p>
            <a:r>
              <a:rPr lang="de-DE" altLang="zh-CN" sz="1200" dirty="0"/>
              <a:t>    if (arr[j] &lt;= pivot) {</a:t>
            </a:r>
            <a:endParaRPr lang="de-DE" altLang="zh-CN" sz="1200" dirty="0"/>
          </a:p>
          <a:p>
            <a:r>
              <a:rPr lang="de-DE" altLang="zh-CN" sz="1200" dirty="0"/>
              <a:t>      i++;</a:t>
            </a:r>
            <a:endParaRPr lang="de-DE" altLang="zh-CN" sz="1200" dirty="0"/>
          </a:p>
          <a:p>
            <a:r>
              <a:rPr lang="de-DE" altLang="zh-CN" sz="1200" dirty="0"/>
              <a:t>      if (i != j) {</a:t>
            </a:r>
            <a:endParaRPr lang="de-DE" altLang="zh-CN" sz="1200" dirty="0"/>
          </a:p>
          <a:p>
            <a:r>
              <a:rPr lang="de-DE" altLang="zh-CN" sz="1200" dirty="0"/>
              <a:t>        int tmp = arr[i]; arr[i] = arr[j]; arr[j] = tmp;</a:t>
            </a:r>
            <a:endParaRPr lang="de-DE" altLang="zh-CN" sz="1200" dirty="0"/>
          </a:p>
        </p:txBody>
      </p:sp>
      <p:sp>
        <p:nvSpPr>
          <p:cNvPr id="20" name="文本框 19"/>
          <p:cNvSpPr txBox="1"/>
          <p:nvPr/>
        </p:nvSpPr>
        <p:spPr>
          <a:xfrm>
            <a:off x="4453128" y="2194560"/>
            <a:ext cx="431104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zh-CN" sz="1200" dirty="0"/>
              <a:t> // ========== phase: "swap" ==========</a:t>
            </a:r>
            <a:endParaRPr lang="de-DE" altLang="zh-CN" sz="1200" dirty="0"/>
          </a:p>
          <a:p>
            <a:r>
              <a:rPr lang="de-DE" altLang="zh-CN" sz="1200" dirty="0"/>
              <a:t>        steps.add(buildSortStep(arr, sorted, ...,</a:t>
            </a:r>
            <a:endParaRPr lang="de-DE" altLang="zh-CN" sz="1200" dirty="0"/>
          </a:p>
          <a:p>
            <a:r>
              <a:rPr lang="de-DE" altLang="zh-CN" sz="1200" dirty="0"/>
              <a:t>          "</a:t>
            </a:r>
            <a:r>
              <a:rPr lang="zh-CN" altLang="en-US" sz="1200" dirty="0"/>
              <a:t>交换 </a:t>
            </a:r>
            <a:r>
              <a:rPr lang="de-DE" altLang="zh-CN" sz="1200" dirty="0"/>
              <a:t>arr[" + i + "]↔arr[" + j + "]", 5, "swap"));</a:t>
            </a:r>
            <a:endParaRPr lang="de-DE" altLang="zh-CN" sz="1200" dirty="0"/>
          </a:p>
          <a:p>
            <a:r>
              <a:rPr lang="de-DE" altLang="zh-CN" sz="1200" dirty="0"/>
              <a:t>      }</a:t>
            </a:r>
            <a:endParaRPr lang="de-DE" altLang="zh-CN" sz="1200" dirty="0"/>
          </a:p>
          <a:p>
            <a:r>
              <a:rPr lang="de-DE" altLang="zh-CN" sz="1200" dirty="0"/>
              <a:t>    }</a:t>
            </a:r>
            <a:endParaRPr lang="de-DE" altLang="zh-CN" sz="1200" dirty="0"/>
          </a:p>
          <a:p>
            <a:r>
              <a:rPr lang="de-DE" altLang="zh-CN" sz="1200" dirty="0"/>
              <a:t>  }</a:t>
            </a:r>
            <a:endParaRPr lang="de-DE" altLang="zh-CN" sz="1200" dirty="0"/>
          </a:p>
          <a:p>
            <a:r>
              <a:rPr lang="de-DE" altLang="zh-CN" sz="1200" dirty="0"/>
              <a:t>  // ... </a:t>
            </a:r>
            <a:r>
              <a:rPr lang="zh-CN" altLang="en-US" sz="1200" dirty="0"/>
              <a:t>交换基准值到最终位置 </a:t>
            </a:r>
            <a:r>
              <a:rPr lang="en-US" altLang="zh-CN" sz="1200" dirty="0"/>
              <a:t>...</a:t>
            </a:r>
            <a:endParaRPr lang="en-US" altLang="zh-CN" sz="1200" dirty="0"/>
          </a:p>
          <a:p>
            <a:r>
              <a:rPr lang="en-US" altLang="zh-CN" sz="1200" dirty="0"/>
              <a:t>  // ========== </a:t>
            </a:r>
            <a:r>
              <a:rPr lang="de-DE" altLang="zh-CN" sz="1200" dirty="0"/>
              <a:t>phase: "pivot_placed" ==========</a:t>
            </a:r>
            <a:endParaRPr lang="de-DE" altLang="zh-CN" sz="1200" dirty="0"/>
          </a:p>
          <a:p>
            <a:r>
              <a:rPr lang="de-DE" altLang="zh-CN" sz="1200" dirty="0"/>
              <a:t>  steps.add(buildSortStep(arr, sorted, ...,</a:t>
            </a:r>
            <a:endParaRPr lang="de-DE" altLang="zh-CN" sz="1200" dirty="0"/>
          </a:p>
          <a:p>
            <a:r>
              <a:rPr lang="de-DE" altLang="zh-CN" sz="1200" dirty="0"/>
              <a:t>    "</a:t>
            </a:r>
            <a:r>
              <a:rPr lang="zh-CN" altLang="en-US" sz="1200" dirty="0"/>
              <a:t>基准值归位：</a:t>
            </a:r>
            <a:r>
              <a:rPr lang="de-DE" altLang="zh-CN" sz="1200" dirty="0"/>
              <a:t>arr[" + pivotFinal + "] = " + arr[pivotFinal],</a:t>
            </a:r>
            <a:endParaRPr lang="de-DE" altLang="zh-CN" sz="1200" dirty="0"/>
          </a:p>
          <a:p>
            <a:r>
              <a:rPr lang="de-DE" altLang="zh-CN" sz="1200" dirty="0"/>
              <a:t>    7, "pivot_placed"));</a:t>
            </a:r>
            <a:endParaRPr lang="de-DE" altLang="zh-CN" sz="1200" dirty="0"/>
          </a:p>
          <a:p>
            <a:r>
              <a:rPr lang="de-DE" altLang="zh-CN" sz="1200" dirty="0"/>
              <a:t>  return pivotFinal;</a:t>
            </a:r>
            <a:endParaRPr lang="de-DE" altLang="zh-CN" sz="1200" dirty="0"/>
          </a:p>
          <a:p>
            <a:r>
              <a:rPr lang="de-DE" altLang="zh-CN" sz="1200" dirty="0"/>
              <a:t>}</a:t>
            </a:r>
            <a:endParaRPr lang="zh-CN" alt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27432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教学阶段引导系统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4173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anose="020B0A04020102020204" pitchFamily="34" charset="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88920" y="14173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anose="020B0A04020102020204" pitchFamily="34" charset="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89120" y="14173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anose="020B0A04020102020204" pitchFamily="34" charset="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89520" y="14173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1600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437" y="1234441"/>
            <a:ext cx="2765108" cy="3713563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548640" y="1153551"/>
            <a:ext cx="477598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Arial Black" panose="020B0A04020102020204" pitchFamily="34" charset="0"/>
              </a:rPr>
              <a:t>以快速排序为例，</a:t>
            </a:r>
            <a:r>
              <a:rPr lang="zh-CN" altLang="en-US" sz="1200" b="1" dirty="0">
                <a:latin typeface="Arial Black" panose="020B0A04020102020204" pitchFamily="34" charset="0"/>
              </a:rPr>
              <a:t>一次标准的响应</a:t>
            </a:r>
            <a:r>
              <a:rPr lang="zh-CN" altLang="en-US" sz="1200" dirty="0">
                <a:latin typeface="Arial Black" panose="020B0A04020102020204" pitchFamily="34" charset="0"/>
              </a:rPr>
              <a:t>包含：</a:t>
            </a:r>
            <a:endParaRPr lang="en-US" altLang="zh-CN" sz="1200" dirty="0">
              <a:latin typeface="Arial Black" panose="020B0A04020102020204" pitchFamily="34" charset="0"/>
            </a:endParaRPr>
          </a:p>
          <a:p>
            <a:endParaRPr lang="en-US" altLang="zh-CN" sz="1200" dirty="0">
              <a:latin typeface="Arial Black" panose="020B0A04020102020204" pitchFamily="34" charset="0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1200" dirty="0">
                <a:latin typeface="Arial Black" panose="020B0A04020102020204" pitchFamily="34" charset="0"/>
              </a:rPr>
              <a:t>当前数组的完整状态（</a:t>
            </a:r>
            <a:r>
              <a:rPr lang="en-US" altLang="zh-CN" sz="1200" dirty="0">
                <a:latin typeface="Arial Black" panose="020B0A04020102020204" pitchFamily="34" charset="0"/>
              </a:rPr>
              <a:t>array</a:t>
            </a:r>
            <a:r>
              <a:rPr lang="zh-CN" altLang="en-US" sz="1200" dirty="0">
                <a:latin typeface="Arial Black" panose="020B0A04020102020204" pitchFamily="34" charset="0"/>
              </a:rPr>
              <a:t>）</a:t>
            </a:r>
            <a:endParaRPr lang="en-US" altLang="zh-CN" sz="1200" dirty="0">
              <a:latin typeface="Arial Black" panose="020B0A04020102020204" pitchFamily="34" charset="0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endParaRPr lang="en-US" altLang="zh-CN" sz="1200" dirty="0">
              <a:latin typeface="Arial Black" panose="020B0A04020102020204" pitchFamily="34" charset="0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1200" dirty="0">
                <a:latin typeface="Arial Black" panose="020B0A04020102020204" pitchFamily="34" charset="0"/>
              </a:rPr>
              <a:t>正在进行比较的两个元素的索引（</a:t>
            </a:r>
            <a:r>
              <a:rPr lang="en-US" altLang="zh-CN" sz="1200" dirty="0">
                <a:latin typeface="Arial Black" panose="020B0A04020102020204" pitchFamily="34" charset="0"/>
              </a:rPr>
              <a:t>comparing</a:t>
            </a:r>
            <a:r>
              <a:rPr lang="zh-CN" altLang="en-US" sz="1200" dirty="0">
                <a:latin typeface="Arial Black" panose="020B0A04020102020204" pitchFamily="34" charset="0"/>
              </a:rPr>
              <a:t>）</a:t>
            </a:r>
            <a:endParaRPr lang="en-US" altLang="zh-CN" sz="1200" dirty="0">
              <a:latin typeface="Arial Black" panose="020B0A04020102020204" pitchFamily="34" charset="0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endParaRPr lang="en-US" altLang="zh-CN" sz="1200" dirty="0">
              <a:latin typeface="Arial Black" panose="020B0A04020102020204" pitchFamily="34" charset="0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1200" dirty="0">
                <a:latin typeface="Arial Black" panose="020B0A04020102020204" pitchFamily="34" charset="0"/>
              </a:rPr>
              <a:t>本次操作发生交换的情况（</a:t>
            </a:r>
            <a:r>
              <a:rPr lang="en-US" altLang="zh-CN" sz="1200" dirty="0">
                <a:latin typeface="Arial Black" panose="020B0A04020102020204" pitchFamily="34" charset="0"/>
              </a:rPr>
              <a:t>swapping</a:t>
            </a:r>
            <a:r>
              <a:rPr lang="zh-CN" altLang="en-US" sz="1200" dirty="0">
                <a:latin typeface="Arial Black" panose="020B0A04020102020204" pitchFamily="34" charset="0"/>
              </a:rPr>
              <a:t>）</a:t>
            </a:r>
            <a:endParaRPr lang="en-US" altLang="zh-CN" sz="1200" dirty="0">
              <a:latin typeface="Arial Black" panose="020B0A04020102020204" pitchFamily="34" charset="0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endParaRPr lang="en-US" altLang="zh-CN" sz="1200" dirty="0">
              <a:latin typeface="Arial Black" panose="020B0A04020102020204" pitchFamily="34" charset="0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1200" dirty="0">
                <a:latin typeface="Arial Black" panose="020B0A04020102020204" pitchFamily="34" charset="0"/>
              </a:rPr>
              <a:t>已确认排好序的元素（</a:t>
            </a:r>
            <a:r>
              <a:rPr lang="en-US" altLang="zh-CN" sz="1200" dirty="0">
                <a:latin typeface="Arial Black" panose="020B0A04020102020204" pitchFamily="34" charset="0"/>
              </a:rPr>
              <a:t>sorted</a:t>
            </a:r>
            <a:r>
              <a:rPr lang="zh-CN" altLang="en-US" sz="1200" dirty="0">
                <a:latin typeface="Arial Black" panose="020B0A04020102020204" pitchFamily="34" charset="0"/>
              </a:rPr>
              <a:t>）</a:t>
            </a:r>
            <a:endParaRPr lang="en-US" altLang="zh-CN" sz="1200" dirty="0">
              <a:latin typeface="Arial Black" panose="020B0A04020102020204" pitchFamily="34" charset="0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endParaRPr lang="en-US" altLang="zh-CN" sz="1200" dirty="0">
              <a:latin typeface="Arial Black" panose="020B0A04020102020204" pitchFamily="34" charset="0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1200" dirty="0">
                <a:latin typeface="Arial Black" panose="020B0A04020102020204" pitchFamily="34" charset="0"/>
              </a:rPr>
              <a:t>基准元素的索引（</a:t>
            </a:r>
            <a:r>
              <a:rPr lang="en-US" altLang="zh-CN" sz="1200" dirty="0">
                <a:latin typeface="Arial Black" panose="020B0A04020102020204" pitchFamily="34" charset="0"/>
              </a:rPr>
              <a:t>pivot</a:t>
            </a:r>
            <a:r>
              <a:rPr lang="zh-CN" altLang="en-US" sz="1200" dirty="0">
                <a:latin typeface="Arial Black" panose="020B0A04020102020204" pitchFamily="34" charset="0"/>
              </a:rPr>
              <a:t>）</a:t>
            </a:r>
            <a:endParaRPr lang="en-US" altLang="zh-CN" sz="1200" dirty="0">
              <a:latin typeface="Arial Black" panose="020B0A04020102020204" pitchFamily="34" charset="0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endParaRPr lang="en-US" altLang="zh-CN" sz="1200" dirty="0">
              <a:latin typeface="Arial Black" panose="020B0A04020102020204" pitchFamily="34" charset="0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1200" dirty="0">
                <a:latin typeface="Arial Black" panose="020B0A04020102020204" pitchFamily="34" charset="0"/>
              </a:rPr>
              <a:t>当前处理的子数组左</a:t>
            </a:r>
            <a:r>
              <a:rPr lang="en-US" altLang="zh-CN" sz="1200" dirty="0">
                <a:latin typeface="Arial Black" panose="020B0A04020102020204" pitchFamily="34" charset="0"/>
              </a:rPr>
              <a:t>/</a:t>
            </a:r>
            <a:r>
              <a:rPr lang="zh-CN" altLang="en-US" sz="1200" dirty="0">
                <a:latin typeface="Arial Black" panose="020B0A04020102020204" pitchFamily="34" charset="0"/>
              </a:rPr>
              <a:t>右边界（</a:t>
            </a:r>
            <a:r>
              <a:rPr lang="en-US" altLang="zh-CN" sz="1200" dirty="0" err="1">
                <a:latin typeface="Arial Black" panose="020B0A04020102020204" pitchFamily="34" charset="0"/>
              </a:rPr>
              <a:t>rangeLeft</a:t>
            </a:r>
            <a:r>
              <a:rPr lang="zh-CN" altLang="en-US" sz="1200" dirty="0">
                <a:latin typeface="Arial Black" panose="020B0A04020102020204" pitchFamily="34" charset="0"/>
              </a:rPr>
              <a:t>、</a:t>
            </a:r>
            <a:r>
              <a:rPr lang="en-US" altLang="zh-CN" sz="1200" dirty="0" err="1">
                <a:latin typeface="Arial Black" panose="020B0A04020102020204" pitchFamily="34" charset="0"/>
              </a:rPr>
              <a:t>rangeRight</a:t>
            </a:r>
            <a:r>
              <a:rPr lang="zh-CN" altLang="en-US" sz="1200" dirty="0">
                <a:latin typeface="Arial Black" panose="020B0A04020102020204" pitchFamily="34" charset="0"/>
              </a:rPr>
              <a:t>）</a:t>
            </a:r>
            <a:endParaRPr lang="en-US" altLang="zh-CN" sz="1200" dirty="0">
              <a:latin typeface="Arial Black" panose="020B0A04020102020204" pitchFamily="34" charset="0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endParaRPr lang="en-US" altLang="zh-CN" sz="1200" dirty="0">
              <a:latin typeface="Arial Black" panose="020B0A04020102020204" pitchFamily="34" charset="0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1200" dirty="0">
                <a:latin typeface="Arial Black" panose="020B0A04020102020204" pitchFamily="34" charset="0"/>
              </a:rPr>
              <a:t>操作描述（</a:t>
            </a:r>
            <a:r>
              <a:rPr lang="en-US" altLang="zh-CN" sz="1200" dirty="0">
                <a:latin typeface="Arial Black" panose="020B0A04020102020204" pitchFamily="34" charset="0"/>
              </a:rPr>
              <a:t>description</a:t>
            </a:r>
            <a:r>
              <a:rPr lang="zh-CN" altLang="en-US" sz="1200" dirty="0">
                <a:latin typeface="Arial Black" panose="020B0A04020102020204" pitchFamily="34" charset="0"/>
              </a:rPr>
              <a:t>）</a:t>
            </a:r>
            <a:endParaRPr lang="en-US" altLang="zh-CN" sz="1200" dirty="0">
              <a:latin typeface="Arial Black" panose="020B0A04020102020204" pitchFamily="34" charset="0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endParaRPr lang="en-US" altLang="zh-CN" sz="1200" dirty="0">
              <a:latin typeface="Arial Black" panose="020B0A04020102020204" pitchFamily="34" charset="0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1200" dirty="0">
                <a:latin typeface="Arial Black" panose="020B0A04020102020204" pitchFamily="34" charset="0"/>
              </a:rPr>
              <a:t>对应算法源码中的行号（</a:t>
            </a:r>
            <a:r>
              <a:rPr lang="en-US" altLang="zh-CN" sz="1200" dirty="0" err="1">
                <a:latin typeface="Arial Black" panose="020B0A04020102020204" pitchFamily="34" charset="0"/>
              </a:rPr>
              <a:t>codeLine</a:t>
            </a:r>
            <a:r>
              <a:rPr lang="zh-CN" altLang="en-US" sz="1200" dirty="0">
                <a:latin typeface="Arial Black" panose="020B0A04020102020204" pitchFamily="34" charset="0"/>
              </a:rPr>
              <a:t>）</a:t>
            </a:r>
            <a:endParaRPr lang="en-US" altLang="zh-CN" sz="1200" dirty="0">
              <a:latin typeface="Arial Black" panose="020B0A04020102020204" pitchFamily="34" charset="0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endParaRPr lang="en-US" altLang="zh-CN" sz="1200" dirty="0">
              <a:latin typeface="Arial Black" panose="020B0A04020102020204" pitchFamily="34" charset="0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1200" dirty="0">
                <a:latin typeface="Arial Black" panose="020B0A04020102020204" pitchFamily="34" charset="0"/>
              </a:rPr>
              <a:t>累计已进行的比较、交换以及数组访问次数</a:t>
            </a:r>
            <a:endParaRPr lang="en-US" altLang="zh-CN" sz="1200" dirty="0">
              <a:latin typeface="Arial Black" panose="020B0A04020102020204" pitchFamily="34" charset="0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endParaRPr lang="en-US" altLang="zh-CN" sz="1200" dirty="0">
              <a:latin typeface="Arial Black" panose="020B0A04020102020204" pitchFamily="34" charset="0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1200" dirty="0">
                <a:latin typeface="Arial Black" panose="020B0A04020102020204" pitchFamily="34" charset="0"/>
              </a:rPr>
              <a:t>当前算法阶段（</a:t>
            </a:r>
            <a:r>
              <a:rPr lang="en-US" altLang="zh-CN" sz="1200" dirty="0">
                <a:latin typeface="Arial Black" panose="020B0A04020102020204" pitchFamily="34" charset="0"/>
              </a:rPr>
              <a:t>phase</a:t>
            </a:r>
            <a:r>
              <a:rPr lang="zh-CN" altLang="en-US" sz="1200" dirty="0">
                <a:latin typeface="Arial Black" panose="020B0A04020102020204" pitchFamily="34" charset="0"/>
              </a:rPr>
              <a:t>）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27432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教学阶段引导系统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4173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anose="020B0A04020102020204" pitchFamily="34" charset="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88920" y="14173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anose="020B0A04020102020204" pitchFamily="34" charset="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89120" y="14173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anose="020B0A04020102020204" pitchFamily="34" charset="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89520" y="14173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文本框 26"/>
          <p:cNvSpPr txBox="1"/>
          <p:nvPr/>
        </p:nvSpPr>
        <p:spPr>
          <a:xfrm>
            <a:off x="548640" y="1153551"/>
            <a:ext cx="42976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+mn-ea"/>
              </a:rPr>
              <a:t>以快速排序为例，</a:t>
            </a:r>
            <a:r>
              <a:rPr lang="zh-CN" altLang="en-US" sz="1200" b="1" dirty="0">
                <a:latin typeface="+mn-ea"/>
              </a:rPr>
              <a:t>进度条的生成</a:t>
            </a:r>
            <a:r>
              <a:rPr lang="zh-CN" altLang="en-US" sz="1200" dirty="0">
                <a:latin typeface="+mn-ea"/>
              </a:rPr>
              <a:t>需要如下两步：</a:t>
            </a:r>
            <a:endParaRPr lang="en-US" altLang="zh-CN" sz="1200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（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）</a:t>
            </a:r>
            <a:r>
              <a:rPr lang="en-US" altLang="zh-CN" sz="1200" b="1" dirty="0">
                <a:latin typeface="+mn-ea"/>
              </a:rPr>
              <a:t>Phase</a:t>
            </a:r>
            <a:r>
              <a:rPr lang="zh-CN" altLang="en-US" sz="1200" b="1" dirty="0">
                <a:latin typeface="+mn-ea"/>
              </a:rPr>
              <a:t>配置</a:t>
            </a:r>
            <a:endParaRPr lang="en-US" altLang="zh-CN" sz="1200" b="1" dirty="0">
              <a:latin typeface="+mn-ea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altLang="zh-CN" sz="1200" dirty="0"/>
              <a:t>// </a:t>
            </a:r>
            <a:r>
              <a:rPr lang="en-US" altLang="zh-CN" sz="1200" dirty="0" err="1"/>
              <a:t>algorithm.store.ts</a:t>
            </a:r>
            <a:r>
              <a:rPr lang="en-US" altLang="zh-CN" sz="1200" dirty="0"/>
              <a:t> — PHASE_CONFIG</a:t>
            </a:r>
            <a:endParaRPr lang="en-US" altLang="zh-CN" sz="1200" dirty="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altLang="zh-CN" sz="1200" dirty="0"/>
              <a:t>const PHASE_CONFIG: Record&lt;string, </a:t>
            </a:r>
            <a:r>
              <a:rPr lang="en-US" altLang="zh-CN" sz="1200" dirty="0" err="1"/>
              <a:t>PhaseConfig</a:t>
            </a:r>
            <a:r>
              <a:rPr lang="en-US" altLang="zh-CN" sz="1200" dirty="0"/>
              <a:t>&gt; = {</a:t>
            </a:r>
            <a:endParaRPr lang="en-US" altLang="zh-CN" sz="1200" dirty="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altLang="zh-CN" sz="1200" dirty="0"/>
              <a:t>  'quick-sort': {</a:t>
            </a:r>
            <a:endParaRPr lang="en-US" altLang="zh-CN" sz="1200" dirty="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altLang="zh-CN" sz="1200" dirty="0"/>
              <a:t>    sequence: ['</a:t>
            </a:r>
            <a:r>
              <a:rPr lang="en-US" altLang="zh-CN" sz="1200" dirty="0" err="1"/>
              <a:t>select_pivot','compare','swap','pivot_placed','done</a:t>
            </a:r>
            <a:r>
              <a:rPr lang="en-US" altLang="zh-CN" sz="1200" dirty="0"/>
              <a:t>'],</a:t>
            </a:r>
            <a:endParaRPr lang="en-US" altLang="zh-CN" sz="1200" dirty="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altLang="zh-CN" sz="1200" dirty="0"/>
              <a:t>    labels: {</a:t>
            </a:r>
            <a:endParaRPr lang="en-US" altLang="zh-CN" sz="1200" dirty="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altLang="zh-CN" sz="1200" dirty="0"/>
              <a:t>      </a:t>
            </a:r>
            <a:r>
              <a:rPr lang="en-US" altLang="zh-CN" sz="1200" dirty="0" err="1"/>
              <a:t>select_pivot</a:t>
            </a:r>
            <a:r>
              <a:rPr lang="en-US" altLang="zh-CN" sz="1200" dirty="0"/>
              <a:t>: '</a:t>
            </a:r>
            <a:r>
              <a:rPr lang="zh-CN" altLang="en-US" sz="1200" dirty="0"/>
              <a:t>选择基准值</a:t>
            </a:r>
            <a:r>
              <a:rPr lang="en-US" altLang="zh-CN" sz="1200" dirty="0"/>
              <a:t>', compare: '</a:t>
            </a:r>
            <a:r>
              <a:rPr lang="zh-CN" altLang="en-US" sz="1200" dirty="0"/>
              <a:t>比较分区</a:t>
            </a:r>
            <a:r>
              <a:rPr lang="en-US" altLang="zh-CN" sz="1200" dirty="0"/>
              <a:t>',</a:t>
            </a:r>
            <a:endParaRPr lang="en-US" altLang="zh-CN" sz="1200" dirty="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altLang="zh-CN" sz="1200" dirty="0"/>
              <a:t>      swap: '</a:t>
            </a:r>
            <a:r>
              <a:rPr lang="zh-CN" altLang="en-US" sz="1200" dirty="0"/>
              <a:t>交换元素</a:t>
            </a:r>
            <a:r>
              <a:rPr lang="en-US" altLang="zh-CN" sz="1200" dirty="0"/>
              <a:t>', </a:t>
            </a:r>
            <a:r>
              <a:rPr lang="en-US" altLang="zh-CN" sz="1200" dirty="0" err="1"/>
              <a:t>pivot_placed</a:t>
            </a:r>
            <a:r>
              <a:rPr lang="en-US" altLang="zh-CN" sz="1200" dirty="0"/>
              <a:t>: '</a:t>
            </a:r>
            <a:r>
              <a:rPr lang="zh-CN" altLang="en-US" sz="1200" dirty="0"/>
              <a:t>基准值归位</a:t>
            </a:r>
            <a:r>
              <a:rPr lang="en-US" altLang="zh-CN" sz="1200" dirty="0"/>
              <a:t>', done: '</a:t>
            </a:r>
            <a:r>
              <a:rPr lang="zh-CN" altLang="en-US" sz="1200" dirty="0"/>
              <a:t>排序完成</a:t>
            </a:r>
            <a:r>
              <a:rPr lang="en-US" altLang="zh-CN" sz="1200" dirty="0"/>
              <a:t>',</a:t>
            </a:r>
            <a:endParaRPr lang="en-US" altLang="zh-CN" sz="1200" dirty="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altLang="zh-CN" sz="1200" dirty="0"/>
              <a:t>    },</a:t>
            </a:r>
            <a:endParaRPr lang="en-US" altLang="zh-CN" sz="1200" dirty="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altLang="zh-CN" sz="1200" dirty="0"/>
              <a:t>  },</a:t>
            </a:r>
            <a:endParaRPr lang="en-US" altLang="zh-CN" sz="1200" dirty="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altLang="zh-CN" sz="1200" dirty="0"/>
              <a:t>  // ... </a:t>
            </a:r>
            <a:r>
              <a:rPr lang="zh-CN" altLang="en-US" sz="1200" dirty="0"/>
              <a:t>另外 </a:t>
            </a:r>
            <a:r>
              <a:rPr lang="en-US" altLang="zh-CN" sz="1200" dirty="0"/>
              <a:t>13 </a:t>
            </a:r>
            <a:r>
              <a:rPr lang="zh-CN" altLang="en-US" sz="1200" dirty="0"/>
              <a:t>种算法各有独立配置</a:t>
            </a:r>
            <a:endParaRPr lang="zh-CN" altLang="en-US" sz="1200" dirty="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altLang="zh-CN" sz="1200" dirty="0"/>
              <a:t>};</a:t>
            </a:r>
            <a:endParaRPr lang="en-US" altLang="zh-CN" sz="1200" dirty="0"/>
          </a:p>
          <a:p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46320" y="1153551"/>
            <a:ext cx="393191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（</a:t>
            </a:r>
            <a:r>
              <a:rPr lang="en-US" altLang="zh-CN" sz="1200" b="1" dirty="0"/>
              <a:t>2</a:t>
            </a:r>
            <a:r>
              <a:rPr lang="zh-CN" altLang="en-US" sz="1200" b="1" dirty="0"/>
              <a:t>）把所有阶段的 </a:t>
            </a:r>
            <a:r>
              <a:rPr lang="en-US" altLang="zh-CN" sz="1200" b="1" dirty="0"/>
              <a:t>ID </a:t>
            </a:r>
            <a:r>
              <a:rPr lang="zh-CN" altLang="en-US" sz="1200" b="1" dirty="0"/>
              <a:t>翻译成中文标签，生成 </a:t>
            </a:r>
            <a:r>
              <a:rPr lang="en-US" altLang="zh-CN" sz="1200" b="1" dirty="0"/>
              <a:t>{id, label} </a:t>
            </a:r>
            <a:r>
              <a:rPr lang="zh-CN" altLang="en-US" sz="1200" b="1" dirty="0"/>
              <a:t>数组</a:t>
            </a:r>
            <a:endParaRPr lang="en-US" altLang="zh-CN" sz="1200" dirty="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de-DE" altLang="zh-CN" sz="1200" dirty="0"/>
              <a:t>// phase-guide.component.ts — </a:t>
            </a:r>
            <a:r>
              <a:rPr lang="zh-CN" altLang="en-US" sz="1200" dirty="0"/>
              <a:t>极简组件</a:t>
            </a:r>
            <a:endParaRPr lang="zh-CN" altLang="en-US" sz="1200" dirty="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altLang="zh-CN" sz="1200" dirty="0"/>
              <a:t>@</a:t>
            </a:r>
            <a:r>
              <a:rPr lang="de-DE" altLang="zh-CN" sz="1200" dirty="0"/>
              <a:t>Component({ selector: 'app-phase-guide', standalone: true, ... })</a:t>
            </a:r>
            <a:endParaRPr lang="de-DE" altLang="zh-CN" sz="1200" dirty="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de-DE" altLang="zh-CN" sz="1200" dirty="0"/>
              <a:t>export class PhaseGuideComponent {</a:t>
            </a:r>
            <a:endParaRPr lang="de-DE" altLang="zh-CN" sz="1200" dirty="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de-DE" altLang="zh-CN" sz="1200" dirty="0"/>
              <a:t>  // </a:t>
            </a:r>
            <a:r>
              <a:rPr lang="zh-CN" altLang="en-US" sz="1200" dirty="0"/>
              <a:t>把所有阶段的 </a:t>
            </a:r>
            <a:r>
              <a:rPr lang="de-DE" altLang="zh-CN" sz="1200" dirty="0"/>
              <a:t>ID </a:t>
            </a:r>
            <a:r>
              <a:rPr lang="zh-CN" altLang="en-US" sz="1200" dirty="0"/>
              <a:t>翻译成中文标签，生成 </a:t>
            </a:r>
            <a:r>
              <a:rPr lang="en-US" altLang="zh-CN" sz="1200" dirty="0"/>
              <a:t>{</a:t>
            </a:r>
            <a:r>
              <a:rPr lang="de-DE" altLang="zh-CN" sz="1200" dirty="0"/>
              <a:t>id, label} </a:t>
            </a:r>
            <a:r>
              <a:rPr lang="zh-CN" altLang="en-US" sz="1200" dirty="0"/>
              <a:t>数组</a:t>
            </a:r>
            <a:endParaRPr lang="zh-CN" altLang="en-US" sz="1200" dirty="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1200" dirty="0"/>
              <a:t>  </a:t>
            </a:r>
            <a:r>
              <a:rPr lang="de-DE" altLang="zh-CN" sz="1200" dirty="0"/>
              <a:t>phases = computed(() =&gt;</a:t>
            </a:r>
            <a:endParaRPr lang="de-DE" altLang="zh-CN" sz="1200" dirty="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de-DE" altLang="zh-CN" sz="1200" dirty="0"/>
              <a:t>    this.store.phaseConfig().sequence.map(id =&gt; ({</a:t>
            </a:r>
            <a:endParaRPr lang="de-DE" altLang="zh-CN" sz="1200" dirty="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de-DE" altLang="zh-CN" sz="1200" dirty="0"/>
              <a:t>      id,</a:t>
            </a:r>
            <a:endParaRPr lang="de-DE" altLang="zh-CN" sz="1200" dirty="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de-DE" altLang="zh-CN" sz="1200" dirty="0"/>
              <a:t>      label: this.store.phaseConfig().labels[id] ?? id,</a:t>
            </a:r>
            <a:endParaRPr lang="de-DE" altLang="zh-CN" sz="1200" dirty="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de-DE" altLang="zh-CN" sz="1200" dirty="0"/>
              <a:t>    }))</a:t>
            </a:r>
            <a:endParaRPr lang="de-DE" altLang="zh-CN" sz="1200" dirty="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de-DE" altLang="zh-CN" sz="1200" dirty="0"/>
              <a:t>  );</a:t>
            </a:r>
            <a:endParaRPr lang="de-DE" altLang="zh-CN" sz="1200" dirty="0"/>
          </a:p>
          <a:p>
            <a:pPr marL="171450" indent="-171450">
              <a:buFont typeface="Arial" panose="020B0604020202090204" pitchFamily="34" charset="0"/>
              <a:buChar char="•"/>
            </a:pPr>
            <a:endParaRPr lang="de-DE" altLang="zh-CN" sz="1200" dirty="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de-DE" altLang="zh-CN" sz="1200" dirty="0"/>
              <a:t>  // </a:t>
            </a:r>
            <a:r>
              <a:rPr lang="zh-CN" altLang="en-US" sz="1200" dirty="0"/>
              <a:t>当前在第几个阶段（</a:t>
            </a:r>
            <a:r>
              <a:rPr lang="en-US" altLang="zh-CN" sz="1200" dirty="0"/>
              <a:t>-1 </a:t>
            </a:r>
            <a:r>
              <a:rPr lang="zh-CN" altLang="en-US" sz="1200" dirty="0"/>
              <a:t>表示还没开始）</a:t>
            </a:r>
            <a:endParaRPr lang="zh-CN" altLang="en-US" sz="1200" dirty="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1200" dirty="0"/>
              <a:t>  </a:t>
            </a:r>
            <a:r>
              <a:rPr lang="de-DE" altLang="zh-CN" sz="1200" dirty="0"/>
              <a:t>currentIdx = computed(() =&gt; this.store.currentPhaseIndex());</a:t>
            </a:r>
            <a:endParaRPr lang="de-DE" altLang="zh-CN" sz="1200" dirty="0"/>
          </a:p>
          <a:p>
            <a:pPr marL="171450" indent="-171450">
              <a:buFont typeface="Arial" panose="020B0604020202090204" pitchFamily="34" charset="0"/>
              <a:buChar char="•"/>
            </a:pPr>
            <a:endParaRPr lang="de-DE" altLang="zh-CN" sz="1200" dirty="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de-DE" altLang="zh-CN" sz="1200" dirty="0"/>
              <a:t>  constructor(public store: AlgorithmStore) {}</a:t>
            </a:r>
            <a:endParaRPr lang="de-DE" altLang="zh-CN" sz="1200" dirty="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de-DE" altLang="zh-CN" sz="1200" dirty="0"/>
              <a:t>}</a:t>
            </a:r>
            <a:endParaRPr lang="zh-CN" altLang="en-US" sz="12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3975533"/>
            <a:ext cx="3877055" cy="89364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27432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对比模式 —— 双算法并排运行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34440"/>
            <a:ext cx="3840480" cy="14630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" name="Text 5"/>
          <p:cNvSpPr/>
          <p:nvPr/>
        </p:nvSpPr>
        <p:spPr>
          <a:xfrm>
            <a:off x="685800" y="1344168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两套独立状态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1691640"/>
            <a:ext cx="1097280" cy="1828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731520" y="178308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主算法有自己的步骤列表和当前步数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07568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对比算法有独立的步骤列表和当前步数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368296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两套数据互不干扰，各自维护播放状态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3840480" cy="14630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3" name="Text 11"/>
          <p:cNvSpPr/>
          <p:nvPr/>
        </p:nvSpPr>
        <p:spPr>
          <a:xfrm>
            <a:off x="4846320" y="1344168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59669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同步播放控制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846320" y="1691640"/>
            <a:ext cx="1097280" cy="18288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5" name="Text 13"/>
          <p:cNvSpPr/>
          <p:nvPr/>
        </p:nvSpPr>
        <p:spPr>
          <a:xfrm>
            <a:off x="4892040" y="178308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一个播放键同时启动两个定时器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07568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哪个算法先跑完就自己停，不影响另一个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368296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切换速度时两个定时器同步更新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926080"/>
            <a:ext cx="3840480" cy="14630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9" name="Text 17"/>
          <p:cNvSpPr/>
          <p:nvPr/>
        </p:nvSpPr>
        <p:spPr>
          <a:xfrm>
            <a:off x="685800" y="3035808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770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组件复用设计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5800" y="3383280"/>
            <a:ext cx="1097280" cy="18288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1" name="Text 19"/>
          <p:cNvSpPr/>
          <p:nvPr/>
        </p:nvSpPr>
        <p:spPr>
          <a:xfrm>
            <a:off x="731520" y="347472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每个可视化组件加一个"数据来源"参数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76732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设为"主"就读主算法的数据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059936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设为"对比"就读对比算法的数据，渲染逻辑不用改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926080"/>
            <a:ext cx="3840480" cy="14630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5" name="Text 23"/>
          <p:cNvSpPr/>
          <p:nvPr/>
        </p:nvSpPr>
        <p:spPr>
          <a:xfrm>
            <a:off x="4846320" y="3035808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C3AE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布局自动切换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846320" y="3383280"/>
            <a:ext cx="1097280" cy="1828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7" name="Text 25"/>
          <p:cNvSpPr/>
          <p:nvPr/>
        </p:nvSpPr>
        <p:spPr>
          <a:xfrm>
            <a:off x="4892040" y="347472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普通模式：可视化区占满整个主区域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376732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对比模式：左右各一半，中间分割线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4059936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根据对比开关状态自动切换布局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27432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对比模式 —— 双算法并排运行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472" y="1005840"/>
            <a:ext cx="7463056" cy="351340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27432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评估测试系统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502920" y="1280160"/>
          <a:ext cx="7498080" cy="1536192"/>
        </p:xfrm>
        <a:graphic>
          <a:graphicData uri="http://schemas.openxmlformats.org/drawingml/2006/table">
            <a:tbl>
              <a:tblPr/>
              <a:tblGrid>
                <a:gridCol w="365760"/>
                <a:gridCol w="3657600"/>
                <a:gridCol w="731520"/>
                <a:gridCol w="1097280"/>
                <a:gridCol w="1645920"/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#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题目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分类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题型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判分方式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快速排序分区过程 —— 第一次分区后数组是什么样？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排序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状态填空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后端验证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归并排序合并过程 —— 第一次合并后的数组？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排序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状态填空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后端验证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二分查找过程分析 —— mid 怎么算？边界怎么收？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搜索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数值填空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前端直接比对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Dijkstra 最短路径 —— 从A到F的最短路径和距离？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图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路径填空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前端比对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0/1 背包 DP 计算 —— dp[i][w] 值怎么推？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DP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表格填空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后端+前端兜底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3063240"/>
            <a:ext cx="8138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判分逻辑：提交答案 → 判断题型 → 简单题前端直接比对 → 复杂题调后端重新跑算法拿标准答案 → 显示对错+解析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3429000"/>
            <a:ext cx="8138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每题1分，满分5分。做完显示总分和评价。可以重新测试。进度圆点颜色直接反映答题结果。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3886200"/>
            <a:ext cx="8138160" cy="457200"/>
          </a:xfrm>
          <a:prstGeom prst="rect">
            <a:avLst/>
          </a:prstGeom>
          <a:solidFill>
            <a:srgbClr val="EFF6FF"/>
          </a:solidFill>
        </p:spPr>
      </p:sp>
      <p:sp>
        <p:nvSpPr>
          <p:cNvPr id="10" name="Text 7"/>
          <p:cNvSpPr/>
          <p:nvPr/>
        </p:nvSpPr>
        <p:spPr>
          <a:xfrm>
            <a:off x="685800" y="38862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后端验证接口：前端发来算法名、参数和目标步号 → 后端完整跑一遍该算法 → 返回那一步的状态数据（数组样子、距离值等），作为判分标准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27432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评估测试系统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824" y="1005839"/>
            <a:ext cx="7672351" cy="336217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27432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AI 复杂度分析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处理流程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664208"/>
            <a:ext cx="256032" cy="256032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94360" y="166420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61848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输入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810512"/>
            <a:ext cx="7223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用户贴代码 + 选语言（Java/C++/Python等）+ 选分析场景（最坏/平均/最好情况）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22376" y="1920240"/>
            <a:ext cx="0" cy="1828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167128"/>
            <a:ext cx="256032" cy="256032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3" name="Text 11"/>
          <p:cNvSpPr/>
          <p:nvPr/>
        </p:nvSpPr>
        <p:spPr>
          <a:xfrm>
            <a:off x="594360" y="216712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12140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构造提示词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313432"/>
            <a:ext cx="7223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系统提示："你是算法复杂度分析助手……" + 用户提示：代码+要求返回JSON格式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" y="2423160"/>
            <a:ext cx="0" cy="1828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670048"/>
            <a:ext cx="256032" cy="256032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8" name="Text 16"/>
          <p:cNvSpPr/>
          <p:nvPr/>
        </p:nvSpPr>
        <p:spPr>
          <a:xfrm>
            <a:off x="594360" y="267004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262432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调大模型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816352"/>
            <a:ext cx="7223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通过HTTP调用并行智算云的DeepSeek-V3.2，要求严格按照JSON格式返回结果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2376" y="2926080"/>
            <a:ext cx="0" cy="1828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172968"/>
            <a:ext cx="256032" cy="256032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3" name="Text 21"/>
          <p:cNvSpPr/>
          <p:nvPr/>
        </p:nvSpPr>
        <p:spPr>
          <a:xfrm>
            <a:off x="594360" y="317296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12724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解析结果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3319272"/>
            <a:ext cx="7223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提取时间复杂度（最坏/平均/最好）、空间复杂度、推理步骤、假设条件、优化建议、置信度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2376" y="3429000"/>
            <a:ext cx="0" cy="1828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675888"/>
            <a:ext cx="256032" cy="256032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8" name="Text 26"/>
          <p:cNvSpPr/>
          <p:nvPr/>
        </p:nvSpPr>
        <p:spPr>
          <a:xfrm>
            <a:off x="594360" y="367588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363016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前端展示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3822192"/>
            <a:ext cx="7223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分卡片展示各项复杂度 + 推理步骤列表 + 优化建议 + 置信度进度条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22376" y="3931920"/>
            <a:ext cx="0" cy="1828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4178808"/>
            <a:ext cx="256032" cy="256032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33" name="Text 31"/>
          <p:cNvSpPr/>
          <p:nvPr/>
        </p:nvSpPr>
        <p:spPr>
          <a:xfrm>
            <a:off x="594360" y="417880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05840" y="413308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异常处理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" y="4325112"/>
            <a:ext cx="7223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Key没配或API超时或返回格式不对 → 统一给出友好提示，不显示技术细节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27432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AI 复杂度分析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022" y="1005840"/>
            <a:ext cx="7707956" cy="33777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27432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3D 数据结构渲染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24688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599"/>
            <a:ext cx="2468880" cy="109727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数组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4688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371600"/>
            <a:ext cx="2468880" cy="109727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栈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080760" y="1371600"/>
            <a:ext cx="24688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371600"/>
            <a:ext cx="24688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队列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2920" y="2743200"/>
            <a:ext cx="24688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43200"/>
            <a:ext cx="24688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链表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91840" y="2743200"/>
            <a:ext cx="24688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743200"/>
            <a:ext cx="24688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二叉树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080760" y="2743200"/>
            <a:ext cx="24688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2743200"/>
            <a:ext cx="24688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B+ 树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02920" y="3977640"/>
            <a:ext cx="8138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基于Three.js：每个结构有独立的渲染器和动画系统，支持鼠标旋转缩放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251960"/>
            <a:ext cx="8138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B+树动画最复杂：可演示查找（高亮路径）、插入（节点分裂）、删除（借位合并）、范围查询（链表扫描）四种操作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526280"/>
            <a:ext cx="8138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二叉树生成已修复：先随机生成不重复的值，再按二叉搜索树插入顺序排列，保证结构合法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27432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3D 数据结构渲染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005840"/>
            <a:ext cx="7652136" cy="313449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27432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用户认证与安全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34440"/>
            <a:ext cx="3840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44168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密码安全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1691640"/>
            <a:ext cx="1097280" cy="1828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685800" y="178308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SHA-256 加盐哈希存储。每个用户有独立的16字节随机盐值。数据库中存的是密码哈希和盐值，不是明文密码。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840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44168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59669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防时序攻击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46320" y="1691640"/>
            <a:ext cx="1097280" cy="18288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3" name="Text 11"/>
          <p:cNvSpPr/>
          <p:nvPr/>
        </p:nvSpPr>
        <p:spPr>
          <a:xfrm>
            <a:off x="4846320" y="178308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密码比较使用专门的常量时间比较函数，不会因为密码长度不同导致响应时间有差异。登录失败不区分是"用户名不存在"还是"密码错误"。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926080"/>
            <a:ext cx="3840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035808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770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注册后不自动登录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3383280"/>
            <a:ext cx="1097280" cy="18288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7" name="Text 15"/>
          <p:cNvSpPr/>
          <p:nvPr/>
        </p:nvSpPr>
        <p:spPr>
          <a:xfrm>
            <a:off x="685800" y="347472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注册成功后会显示绿色提示"注册成功，请登录"，自动切回登录页，用户名帮你填好，但密码需要你手动输入——这是一个重要的安全设计，确保注册和登录是分开的两个步骤。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3840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035808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262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双通道反馈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46320" y="3383280"/>
            <a:ext cx="1097280" cy="18288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21" name="Text 19"/>
          <p:cNvSpPr/>
          <p:nvPr/>
        </p:nvSpPr>
        <p:spPr>
          <a:xfrm>
            <a:off x="4846320" y="347472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页面有红色错误提示和绿色成功提示两种信息条。模式切换或退出登录时会统一清除两种提示。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27432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数据库设计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app_user — 用户表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502920" y="1600199"/>
          <a:ext cx="3840480" cy="2007096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371600"/>
              </a:tblGrid>
              <a:tr h="2867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字段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类型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说明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86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id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BIGINT 自增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主键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username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VARCHAR(50) 唯一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登录用户名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86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display_name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VARCHAR(80)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显示名称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password_hash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VARCHAR(128)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SHA-256哈希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86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password_salt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VARCHAR(64)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随机盐值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created_at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DATETIME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注册时间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709160" y="128016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59669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run_history — 运行历史表</a:t>
            </a:r>
            <a:endParaRPr lang="en-US" sz="140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/>
        </p:nvGraphicFramePr>
        <p:xfrm>
          <a:off x="4709160" y="1600199"/>
          <a:ext cx="3977640" cy="2007089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417320"/>
              </a:tblGrid>
              <a:tr h="28672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字段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类型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说明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286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id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BIGINT 自增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主键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category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VARCHAR(50)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算法分类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86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algorithm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VARCHAR(50)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具体算法名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input_data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TEXT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输入参数(JSON)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86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comparisons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比较次数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exec_time_ms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BIGINT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耗时(毫秒)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3657600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JPA 自动建表，不需要手动写SQL建表语句 | MySQL 8.0 + utf8mb4字符集 | 两张表通过应用层维护关系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部署运维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4114800"/>
            <a:ext cx="76809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114800"/>
            <a:ext cx="45720" cy="5943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" name="Text 5"/>
          <p:cNvSpPr/>
          <p:nvPr/>
        </p:nvSpPr>
        <p:spPr>
          <a:xfrm>
            <a:off x="1051560" y="4114800"/>
            <a:ext cx="7178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本节要点：Docker 三容器编排 → AWS ECS 云服务器部署 → Nginx 反向代理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27432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Docker 容器化部署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80160"/>
            <a:ext cx="5120640" cy="8229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" name="Shape 5"/>
          <p:cNvSpPr/>
          <p:nvPr/>
        </p:nvSpPr>
        <p:spPr>
          <a:xfrm>
            <a:off x="502920" y="1280160"/>
            <a:ext cx="45720" cy="8229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777240" y="132588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Nginx 容器 (80端口)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609344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承载前端页面（Angular打包的静态文件）。同时把 /api 请求转发给后端容器，这样前端只需要写相对路径 /api，不用管后端实际地址。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5120640" cy="8229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1" name="Shape 9"/>
          <p:cNvSpPr/>
          <p:nvPr/>
        </p:nvSpPr>
        <p:spPr>
          <a:xfrm>
            <a:off x="502920" y="2286000"/>
            <a:ext cx="45720" cy="82296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2" name="Text 10"/>
          <p:cNvSpPr/>
          <p:nvPr/>
        </p:nvSpPr>
        <p:spPr>
          <a:xfrm>
            <a:off x="777240" y="233172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59669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后端容器 (8080端口)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615184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运行Spring Boot打包的JAR。数据库密码和AI的API Key通过Docker环境变量注入，不写在代码文件里。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291840"/>
            <a:ext cx="5120640" cy="8229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5" name="Shape 13"/>
          <p:cNvSpPr/>
          <p:nvPr/>
        </p:nvSpPr>
        <p:spPr>
          <a:xfrm>
            <a:off x="502920" y="3291840"/>
            <a:ext cx="45720" cy="82296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6" name="Text 14"/>
          <p:cNvSpPr/>
          <p:nvPr/>
        </p:nvSpPr>
        <p:spPr>
          <a:xfrm>
            <a:off x="777240" y="333756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770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MySQL 容器 (3306端口)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621024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用MySQL 8.0官方镜像。数据文件挂载到宿主机防止容器删除后数据丢失。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128016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常用命令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89320" y="160020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docker compose up -d --build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89320" y="192024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docker compose ps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89320" y="22402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docker compose restart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89320" y="256032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docker compose stop / start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89320" y="288036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docker compose restart backend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89320" y="320040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docker compose down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27432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AWS ECS 远程云部署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80160"/>
            <a:ext cx="8138160" cy="365760"/>
          </a:xfrm>
          <a:prstGeom prst="rect">
            <a:avLst/>
          </a:prstGeom>
          <a:solidFill>
            <a:srgbClr val="EFF6FF"/>
          </a:solidFill>
        </p:spPr>
      </p:sp>
      <p:sp>
        <p:nvSpPr>
          <p:cNvPr id="7" name="Text 5"/>
          <p:cNvSpPr/>
          <p:nvPr/>
        </p:nvSpPr>
        <p:spPr>
          <a:xfrm>
            <a:off x="685800" y="1280160"/>
            <a:ext cx="7772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已部署上线：http://3.212.58.111  （AWS ECS Ubuntu + Docker + Nginx）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847088"/>
            <a:ext cx="301752" cy="301752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94360" y="1847088"/>
            <a:ext cx="301752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181051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前后端打包上传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057400"/>
            <a:ext cx="7178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前端 ng build --configuration production（这步很关键：会自动把API地址从 localhost:8080/api 换成相对路径 /api）。后端 mvn clean package 打成 JAR 包。然后 scp 上传到服务器。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560320"/>
            <a:ext cx="301752" cy="301752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3" name="Text 11"/>
          <p:cNvSpPr/>
          <p:nvPr/>
        </p:nvSpPr>
        <p:spPr>
          <a:xfrm>
            <a:off x="594360" y="2560320"/>
            <a:ext cx="301752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2523744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服务器环境准备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770632"/>
            <a:ext cx="7178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安装 Docker Engine 和 Docker Compose。给非 root 用户加 Docker 权限（sudo usermod -aG docker $USER）。MySQL 设置 root 密码。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3273552"/>
            <a:ext cx="301752" cy="301752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7" name="Text 15"/>
          <p:cNvSpPr/>
          <p:nvPr/>
        </p:nvSpPr>
        <p:spPr>
          <a:xfrm>
            <a:off x="594360" y="3273552"/>
            <a:ext cx="301752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3236976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构建并启动容器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483864"/>
            <a:ext cx="7178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进入 deploy 目录，执行 docker compose up -d --build。首次构建需要3-5分钟下载镜像和编译。后续更新代码只需要重新构建重启。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3986784"/>
            <a:ext cx="301752" cy="301752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1" name="Text 19"/>
          <p:cNvSpPr/>
          <p:nvPr/>
        </p:nvSpPr>
        <p:spPr>
          <a:xfrm>
            <a:off x="594360" y="3986784"/>
            <a:ext cx="301752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395020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验证部署结果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197096"/>
            <a:ext cx="7178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浏览器打开 http://3.212.58.111 看首页是否正常加载。curl 健康检查接口应返回 {"status":"ok"}。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问题与改进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4114800"/>
            <a:ext cx="76809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114800"/>
            <a:ext cx="45720" cy="5943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" name="Text 5"/>
          <p:cNvSpPr/>
          <p:nvPr/>
        </p:nvSpPr>
        <p:spPr>
          <a:xfrm>
            <a:off x="1051560" y="4114800"/>
            <a:ext cx="7178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本节要点：注册安全风险 · 敏感信息硬编码 · 端口硬编码部署兼容性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4864" cy="3657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822960" y="27432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3A5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开发过程中遇到的三个关键问题与改进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475488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 / 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8138160" cy="292608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7" name="Text 5"/>
          <p:cNvSpPr/>
          <p:nvPr/>
        </p:nvSpPr>
        <p:spPr>
          <a:xfrm>
            <a:off x="640080" y="114300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问题1：注册后不小心自动登录了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35608"/>
            <a:ext cx="3977640" cy="8229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9" name="Text 7"/>
          <p:cNvSpPr/>
          <p:nvPr/>
        </p:nvSpPr>
        <p:spPr>
          <a:xfrm>
            <a:off x="640080" y="146304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原来的问题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1627632"/>
            <a:ext cx="3703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最初的写法是注册成功就直接登录进主界面。但仔细想想，注册和登录应该是两个独立操作——注册是"声明我是谁"，登录是"证明我是谁"。直接登录跳过了"证明"这一步。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435608"/>
            <a:ext cx="3977640" cy="8229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2" name="Text 10"/>
          <p:cNvSpPr/>
          <p:nvPr/>
        </p:nvSpPr>
        <p:spPr>
          <a:xfrm>
            <a:off x="4800600" y="146304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怎么改的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00600" y="1627632"/>
            <a:ext cx="3703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改成了：注册成功后不登录，而是弹个绿色提示"注册成功，请登录"，自动帮你切回登录页，用户名已经填好了，密码要你自己输。这样用户一定能确认自己记住了密码。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423160"/>
            <a:ext cx="8138160" cy="292608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5" name="Text 13"/>
          <p:cNvSpPr/>
          <p:nvPr/>
        </p:nvSpPr>
        <p:spPr>
          <a:xfrm>
            <a:off x="640080" y="242316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问题2：把密钥和密码写死在代码文件里了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715768"/>
            <a:ext cx="3977640" cy="8229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7" name="Text 15"/>
          <p:cNvSpPr/>
          <p:nvPr/>
        </p:nvSpPr>
        <p:spPr>
          <a:xfrm>
            <a:off x="640080" y="274320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770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原来的问题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2907792"/>
            <a:ext cx="3703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最开始配置文件里直接写了AI的API Key和数据库密码。代码传到公开仓库就等于把密钥公开了。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715768"/>
            <a:ext cx="3977640" cy="8229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0" name="Text 18"/>
          <p:cNvSpPr/>
          <p:nvPr/>
        </p:nvSpPr>
        <p:spPr>
          <a:xfrm>
            <a:off x="4800600" y="274320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怎么改的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00600" y="2907792"/>
            <a:ext cx="3703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配置文件里留空，真正部署的时候通过 Docker 的环境变量传进去。开发环境用单独的环境变量文件，这个文件加在 .gitignore 里不提交。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703320"/>
            <a:ext cx="8138160" cy="29260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3" name="Text 21"/>
          <p:cNvSpPr/>
          <p:nvPr/>
        </p:nvSpPr>
        <p:spPr>
          <a:xfrm>
            <a:off x="640080" y="370332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问题3：开发时写的固定地址到了服务器上就不通了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3995928"/>
            <a:ext cx="3977640" cy="8229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5" name="Text 23"/>
          <p:cNvSpPr/>
          <p:nvPr/>
        </p:nvSpPr>
        <p:spPr>
          <a:xfrm>
            <a:off x="640080" y="402336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原来的问题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4187952"/>
            <a:ext cx="3703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开发时前端配置写的是 http://localhost:8080/api。部署到 Docker 后，前端的 localhost 指的是 Nginx 容器自己，而不是后端容器，请求根本到不了后端。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402336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怎么改的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00600" y="4187952"/>
            <a:ext cx="3703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利用 Angular 的环境切换机制——开发时用 environment.ts（地址用 localhost），生产打包时自动换成 environment.prod.ts（地址用相对路径 /api）。Nginx 收到 /api 请求后转发给后端容器。这样代码不用改，打包命令加个参数就行。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总结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5E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我们做了一个什么样的平台？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057400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覆盖6大类17+种算法的分步可视化，每种算法有专属的展示方式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2386584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教学阶段引导系统——把抽象的执行过程变成看得见的进度条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715768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双算法对比模式——同屏并排，指标实时对比，课堂演示利器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044952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评估测试形成学习闭环——做完题自动判分，即时反馈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3374136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AI 复杂度分析 + 3D 数据结构展示，辅助工具齐全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3703320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Docker 容器化部署，AWS ECS 云服务器已上线运行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0" y="4160520"/>
            <a:ext cx="3657600" cy="18288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3" name="Text 11"/>
          <p:cNvSpPr/>
          <p:nvPr/>
        </p:nvSpPr>
        <p:spPr>
          <a:xfrm>
            <a:off x="914400" y="43434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未来方向：扩展题库 · 更多算法 · 移动端适配 · CI/CD自动化部署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59669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谢谢！请各位老师提问</a:t>
            </a: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7.2,&quot;left&quot;:39.6,&quot;top&quot;:97.2,&quot;width&quot;:640.8}"/>
</p:tagLst>
</file>

<file path=ppt/tags/tag2.xml><?xml version="1.0" encoding="utf-8"?>
<p:tagLst xmlns:p="http://schemas.openxmlformats.org/presentationml/2006/main">
  <p:tag name="KSO_WM_DIAGRAM_VIRTUALLY_FRAME" val="{&quot;height&quot;:277.2,&quot;left&quot;:39.6,&quot;top&quot;:97.2,&quot;width&quot;:640.8}"/>
</p:tagLst>
</file>

<file path=ppt/tags/tag3.xml><?xml version="1.0" encoding="utf-8"?>
<p:tagLst xmlns:p="http://schemas.openxmlformats.org/presentationml/2006/main">
  <p:tag name="KSO_WM_DIAGRAM_VIRTUALLY_FRAME" val="{&quot;height&quot;:277.2,&quot;left&quot;:39.6,&quot;top&quot;:97.2,&quot;width&quot;:640.8}"/>
</p:tagLst>
</file>

<file path=ppt/tags/tag4.xml><?xml version="1.0" encoding="utf-8"?>
<p:tagLst xmlns:p="http://schemas.openxmlformats.org/presentationml/2006/main">
  <p:tag name="KSO_WM_DIAGRAM_VIRTUALLY_FRAME" val="{&quot;height&quot;:277.2,&quot;left&quot;:39.6,&quot;top&quot;:97.2,&quot;width&quot;:640.8}"/>
</p:tagLst>
</file>

<file path=ppt/tags/tag5.xml><?xml version="1.0" encoding="utf-8"?>
<p:tagLst xmlns:p="http://schemas.openxmlformats.org/presentationml/2006/main">
  <p:tag name="KSO_WM_DIAGRAM_VIRTUALLY_FRAME" val="{&quot;height&quot;:277.2,&quot;left&quot;:39.6,&quot;top&quot;:97.2,&quot;width&quot;:640.8}"/>
</p:tagLst>
</file>

<file path=ppt/tags/tag6.xml><?xml version="1.0" encoding="utf-8"?>
<p:tagLst xmlns:p="http://schemas.openxmlformats.org/presentationml/2006/main">
  <p:tag name="KSO_WM_DIAGRAM_VIRTUALLY_FRAME" val="{&quot;height&quot;:277.2,&quot;left&quot;:39.6,&quot;top&quot;:97.2,&quot;width&quot;:640.8}"/>
</p:tagLst>
</file>

<file path=ppt/tags/tag7.xml><?xml version="1.0" encoding="utf-8"?>
<p:tagLst xmlns:p="http://schemas.openxmlformats.org/presentationml/2006/main">
  <p:tag name="KSO_WM_DIAGRAM_VIRTUALLY_FRAME" val="{&quot;height&quot;:277.2,&quot;left&quot;:39.6,&quot;top&quot;:97.2,&quot;width&quot;:640.8}"/>
</p:tagLst>
</file>

<file path=ppt/tags/tag8.xml><?xml version="1.0" encoding="utf-8"?>
<p:tagLst xmlns:p="http://schemas.openxmlformats.org/presentationml/2006/main">
  <p:tag name="KSO_WM_DIAGRAM_VIRTUALLY_FRAME" val="{&quot;height&quot;:277.2,&quot;left&quot;:39.6,&quot;top&quot;:97.2,&quot;width&quot;:640.8}"/>
</p:tagLst>
</file>

<file path=ppt/tags/tag9.xml><?xml version="1.0" encoding="utf-8"?>
<p:tagLst xmlns:p="http://schemas.openxmlformats.org/presentationml/2006/main">
  <p:tag name="KSO_WM_DIAGRAM_VIRTUALLY_FRAME" val="{&quot;height&quot;:277.2,&quot;left&quot;:39.6,&quot;top&quot;:97.2,&quot;width&quot;:640.8}"/>
</p:tagLst>
</file>

<file path=ppt/tags/tag10.xml><?xml version="1.0" encoding="utf-8"?>
<p:tagLst xmlns:p="http://schemas.openxmlformats.org/presentationml/2006/main">
  <p:tag name="KSO_WM_DIAGRAM_VIRTUALLY_FRAME" val="{&quot;height&quot;:277.2,&quot;left&quot;:39.6,&quot;top&quot;:97.2,&quot;width&quot;:640.8}"/>
</p:tagLst>
</file>

<file path=ppt/tags/tag11.xml><?xml version="1.0" encoding="utf-8"?>
<p:tagLst xmlns:p="http://schemas.openxmlformats.org/presentationml/2006/main">
  <p:tag name="KSO_WM_DIAGRAM_VIRTUALLY_FRAME" val="{&quot;height&quot;:277.2,&quot;left&quot;:39.6,&quot;top&quot;:97.2,&quot;width&quot;:640.8}"/>
</p:tagLst>
</file>

<file path=ppt/tags/tag12.xml><?xml version="1.0" encoding="utf-8"?>
<p:tagLst xmlns:p="http://schemas.openxmlformats.org/presentationml/2006/main">
  <p:tag name="KSO_WM_DIAGRAM_VIRTUALLY_FRAME" val="{&quot;height&quot;:277.2,&quot;left&quot;:39.6,&quot;top&quot;:97.2,&quot;width&quot;:640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10421</Words>
  <Application>WPS 演示</Application>
  <PresentationFormat>全屏显示(16:9)</PresentationFormat>
  <Paragraphs>892</Paragraphs>
  <Slides>35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57" baseType="lpstr">
      <vt:lpstr>Arial</vt:lpstr>
      <vt:lpstr>宋体</vt:lpstr>
      <vt:lpstr>Wingdings</vt:lpstr>
      <vt:lpstr>Arial Black</vt:lpstr>
      <vt:lpstr>Arial Black</vt:lpstr>
      <vt:lpstr>Arial Black</vt:lpstr>
      <vt:lpstr>Calibri</vt:lpstr>
      <vt:lpstr>Helvetica Neue</vt:lpstr>
      <vt:lpstr>Calibri</vt:lpstr>
      <vt:lpstr>Calibri</vt:lpstr>
      <vt:lpstr>Consolas</vt:lpstr>
      <vt:lpstr>苹方-简</vt:lpstr>
      <vt:lpstr>Consolas</vt:lpstr>
      <vt:lpstr>Consolas</vt:lpstr>
      <vt:lpstr>宋体</vt:lpstr>
      <vt:lpstr>汉仪书宋二KW</vt:lpstr>
      <vt:lpstr>等线</vt:lpstr>
      <vt:lpstr>汉仪中等线KW</vt:lpstr>
      <vt:lpstr>微软雅黑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算法与复杂度可视化学习平台</dc:title>
  <dc:creator>算法可视化团队</dc:creator>
  <dc:subject>PptxGenJS Presentation</dc:subject>
  <cp:lastModifiedBy>.</cp:lastModifiedBy>
  <cp:revision>55</cp:revision>
  <dcterms:created xsi:type="dcterms:W3CDTF">2026-06-10T09:10:05Z</dcterms:created>
  <dcterms:modified xsi:type="dcterms:W3CDTF">2026-06-10T09:10:05Z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E1BDAAD941224185894D9E9286A0868D_12</vt:lpwstr>
  </property>
  <property fmtid="{D5CDD505-2E9C-101B-9397-08002B2CF9AE}" pid="3" name="KSOProductBuildVer">
    <vt:lpwstr>2052-12.1.26016.26016</vt:lpwstr>
  </property>
</Properties>
</file>